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85"/>
    <p:restoredTop sz="94621"/>
  </p:normalViewPr>
  <p:slideViewPr>
    <p:cSldViewPr snapToGrid="0">
      <p:cViewPr>
        <p:scale>
          <a:sx n="126" d="100"/>
          <a:sy n="126" d="100"/>
        </p:scale>
        <p:origin x="168" y="-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D24F6-96C2-CF35-DB9B-FAD09AF4E7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83CA7A-7D86-2A6A-1D5B-B05F39E111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698C94-D70D-5698-B723-C01D0E407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325DEB-8ECF-EB7F-0DF4-20D5BA700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535CB-2D64-5A48-E29F-7288B96BC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064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AB864-F3A1-CE26-BDB8-87C7C3F85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E2D41-5A98-1B75-0195-57AA8269A0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C2F72-9C73-156C-04BE-027431856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C59085-2934-BEFA-8DC6-1B5F417FA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DFFB4-1547-C5B3-DC92-495999A46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113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C959E-0BD7-72FA-5F71-B30358D03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E1EB2-07E1-C39B-C11F-00134D51DD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CB1D2-8030-DE0E-C661-401FEA386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C13F7-C8B1-0D0B-298F-25EFC04FB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ADA6E-AD48-56B8-AA75-2EAF1F0A1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878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95F33-4F2F-D3AF-29EA-8BB703E12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1D03C-5EC7-2295-C79F-274FD25190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E4D9F0-458C-FCF1-A9D0-2D9D626FC3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3F9AD2-089A-51F7-28A4-D432DE685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0D7148-BB6C-EB7B-00A2-BECF61CFE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6140F5-7508-03AC-5DC5-C7F41081E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058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6C460-9C6E-D9E5-72B7-1C783ED05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DBFB61-0B41-7A65-EE8E-038475801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108AC3-B03A-20D0-74E5-34A2586C67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4ECCF5-2A32-911F-7B75-62032E9133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5BE815-8E9F-73DF-37FE-060A8733C0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4DCD85-174A-2D2B-5E60-95CC4F533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6EAFE6-44CB-4E2F-958B-6419E9B72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3CFE25-3E38-EAEA-F38C-333DBB3C0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403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7337F-8DFB-25AF-48ED-47B2D7F56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8FDE08-CC22-9276-583F-AF29A44DF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B40206-1A47-5BA9-8301-3E7A1128F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03A2FA-A159-CB7F-9765-AD6BDE2C3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138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CCFECA-BF23-82CD-8894-282F8BCC4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CFB732-0437-7DF8-E338-4DB33144B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737B69-8AF8-7E39-E516-70B4A4829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755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C8C78-C4C5-1CD4-7488-A293D4A22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E25C6-F074-7A59-B950-4D09D7573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C0BF84-B75C-29AA-AF17-0446D50177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255E33-16F4-A764-2C0A-AC9D7663D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14A78B-BEDA-CA9B-6EA5-D0D0C1592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E12065-34E1-F0B6-61CB-33E3E3C94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033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79F78-E810-9D63-E69C-2E03D13C1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4E8FBC-7DF0-BBBE-D5AB-5CC0135C70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F47542-2E25-A5E8-5692-A6BE4ADED2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552581-C4FA-CD13-B747-FABFE3095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8764A4-6781-AD68-217F-4C409AE3D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027922-5891-F0BE-C41B-9F0156FBF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001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CE7C8-FEA2-28C1-E195-01B30F07F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9CDFF6-BEF7-5766-0B4C-F85C7F4480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E0CDA3-A0E4-22F2-5AE7-BE7F98BE6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B47D8-30BA-7ECD-82FF-DDBBE176A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E7D58-2BEE-CAA1-EEF8-A365E3EAD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935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D67798-679F-64A6-F5C8-629905BF6B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813B6F-A622-B378-9EE4-D066F3EC41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8391C-ECD8-F139-B64F-E51F99DBA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A16B2F-85A4-F52D-BD19-4FC53EF49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68196-53CA-9BF2-7E6A-B6CB89649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83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C1DB36-0A77-3A2B-2B38-BB59E66DC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E9A5A0-7F3F-393B-381B-D467A59FA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2ABAD-7589-D103-F8AB-6AFABA4E01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31CDA4-1258-EB3E-EBC2-135093AEF7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6C7A9-426B-7690-A342-59A948959D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536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CA2C2D8-E56E-904D-A5C8-2CE9822EC3A4}"/>
              </a:ext>
            </a:extLst>
          </p:cNvPr>
          <p:cNvSpPr txBox="1"/>
          <p:nvPr/>
        </p:nvSpPr>
        <p:spPr>
          <a:xfrm>
            <a:off x="1238250" y="95250"/>
            <a:ext cx="9715500" cy="3429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700" b="1" dirty="0">
                <a:solidFill>
                  <a:srgbClr val="06245A"/>
                </a:solidFill>
                <a:latin typeface="Arial"/>
                <a:cs typeface="Arial"/>
              </a:rPr>
              <a:t>CREDO MCI WEST MONTHLY IMPACT REPORT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87D0604-8BAF-D44E-9159-3958850BD43D}"/>
              </a:ext>
            </a:extLst>
          </p:cNvPr>
          <p:cNvSpPr/>
          <p:nvPr/>
        </p:nvSpPr>
        <p:spPr>
          <a:xfrm>
            <a:off x="1123950" y="742950"/>
            <a:ext cx="9944100" cy="609600"/>
          </a:xfrm>
          <a:prstGeom prst="round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mir_bluf">
            <a:extLst>
              <a:ext uri="{FF2B5EF4-FFF2-40B4-BE49-F238E27FC236}">
                <a16:creationId xmlns:a16="http://schemas.microsoft.com/office/drawing/2014/main" id="{A8AD2F20-278C-0140-B2C2-FA16F232A083}"/>
              </a:ext>
            </a:extLst>
          </p:cNvPr>
          <p:cNvSpPr txBox="1"/>
          <p:nvPr/>
        </p:nvSpPr>
        <p:spPr>
          <a:xfrm>
            <a:off x="1619250" y="828675"/>
            <a:ext cx="8953500" cy="419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50" b="1" dirty="0">
                <a:solidFill>
                  <a:srgbClr val="FFFFFF"/>
                </a:solidFill>
                <a:latin typeface="Arial"/>
                <a:cs typeface="Arial"/>
              </a:rPr>
              <a:t>BLUF: Enter bottom-line summary for this reporting period — commands supported, beneficiaries served, and mission impact.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27B666F-7DCF-F44C-916B-3653E15C21BB}"/>
              </a:ext>
            </a:extLst>
          </p:cNvPr>
          <p:cNvSpPr/>
          <p:nvPr/>
        </p:nvSpPr>
        <p:spPr>
          <a:xfrm>
            <a:off x="200025" y="1504950"/>
            <a:ext cx="5810250" cy="2552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B33FEE-1BE9-AB4B-A4C3-62D7B1DC257B}"/>
              </a:ext>
            </a:extLst>
          </p:cNvPr>
          <p:cNvSpPr/>
          <p:nvPr/>
        </p:nvSpPr>
        <p:spPr>
          <a:xfrm>
            <a:off x="200025" y="1504950"/>
            <a:ext cx="5810250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46B409-727F-7F41-9C2B-AF09F8850328}"/>
              </a:ext>
            </a:extLst>
          </p:cNvPr>
          <p:cNvSpPr txBox="1"/>
          <p:nvPr/>
        </p:nvSpPr>
        <p:spPr>
          <a:xfrm>
            <a:off x="257175" y="1552575"/>
            <a:ext cx="5695950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1. REACH + MISSION SUPPORT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5D6F514-8C9B-7640-88EF-BEB8DD14E71B}"/>
              </a:ext>
            </a:extLst>
          </p:cNvPr>
          <p:cNvSpPr/>
          <p:nvPr/>
        </p:nvSpPr>
        <p:spPr>
          <a:xfrm>
            <a:off x="6162675" y="1504950"/>
            <a:ext cx="5838825" cy="2552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1FABAA-4C15-7E41-9EB2-E9F9E8864CB1}"/>
              </a:ext>
            </a:extLst>
          </p:cNvPr>
          <p:cNvSpPr/>
          <p:nvPr/>
        </p:nvSpPr>
        <p:spPr>
          <a:xfrm>
            <a:off x="6162675" y="1504950"/>
            <a:ext cx="5838825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BA8E34-4DEF-3240-9640-E79523ECAC66}"/>
              </a:ext>
            </a:extLst>
          </p:cNvPr>
          <p:cNvSpPr txBox="1"/>
          <p:nvPr/>
        </p:nvSpPr>
        <p:spPr>
          <a:xfrm>
            <a:off x="6219825" y="1552575"/>
            <a:ext cx="5724525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2. MANPOWER / MANNING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A75BFD8-6E73-9D40-BF03-B8A59BB6CED8}"/>
              </a:ext>
            </a:extLst>
          </p:cNvPr>
          <p:cNvSpPr/>
          <p:nvPr/>
        </p:nvSpPr>
        <p:spPr>
          <a:xfrm>
            <a:off x="200025" y="4095750"/>
            <a:ext cx="5810250" cy="241935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AD1279-E07F-8D46-9AAC-D5BAA3443F34}"/>
              </a:ext>
            </a:extLst>
          </p:cNvPr>
          <p:cNvSpPr/>
          <p:nvPr/>
        </p:nvSpPr>
        <p:spPr>
          <a:xfrm>
            <a:off x="200025" y="4095750"/>
            <a:ext cx="5810250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mir_readiness_section_header">
            <a:extLst>
              <a:ext uri="{FF2B5EF4-FFF2-40B4-BE49-F238E27FC236}">
                <a16:creationId xmlns:a16="http://schemas.microsoft.com/office/drawing/2014/main" id="{6A294CC9-02C4-F842-B5B9-E6F462D91B8D}"/>
              </a:ext>
            </a:extLst>
          </p:cNvPr>
          <p:cNvSpPr txBox="1"/>
          <p:nvPr/>
        </p:nvSpPr>
        <p:spPr>
          <a:xfrm>
            <a:off x="257175" y="4143375"/>
            <a:ext cx="5695950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3. READINESS OUTCOMES (FYTD)    n = __ assessments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32ACC6D-BE9F-E840-B2B5-1409FB546A61}"/>
              </a:ext>
            </a:extLst>
          </p:cNvPr>
          <p:cNvSpPr/>
          <p:nvPr/>
        </p:nvSpPr>
        <p:spPr>
          <a:xfrm>
            <a:off x="6162675" y="4095750"/>
            <a:ext cx="5838825" cy="241935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C2C0E3F-5ED0-3D4D-8F75-82F77CD12386}"/>
              </a:ext>
            </a:extLst>
          </p:cNvPr>
          <p:cNvSpPr/>
          <p:nvPr/>
        </p:nvSpPr>
        <p:spPr>
          <a:xfrm>
            <a:off x="6162675" y="4095750"/>
            <a:ext cx="5838825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mir_section4_header">
            <a:extLst>
              <a:ext uri="{FF2B5EF4-FFF2-40B4-BE49-F238E27FC236}">
                <a16:creationId xmlns:a16="http://schemas.microsoft.com/office/drawing/2014/main" id="{58E8619F-EC34-A44A-8F9B-677F94ADAE9E}"/>
              </a:ext>
            </a:extLst>
          </p:cNvPr>
          <p:cNvSpPr txBox="1"/>
          <p:nvPr/>
        </p:nvSpPr>
        <p:spPr>
          <a:xfrm>
            <a:off x="6219825" y="4143375"/>
            <a:ext cx="5724525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4. COMMAND HIGHLIGHTS (MONTH)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982F948-0D90-E446-8829-911FC5FF1090}"/>
              </a:ext>
            </a:extLst>
          </p:cNvPr>
          <p:cNvSpPr/>
          <p:nvPr/>
        </p:nvSpPr>
        <p:spPr>
          <a:xfrm>
            <a:off x="390525" y="5019675"/>
            <a:ext cx="5429250" cy="9525"/>
          </a:xfrm>
          <a:prstGeom prst="rect">
            <a:avLst/>
          </a:prstGeom>
          <a:solidFill>
            <a:srgbClr val="9BA8B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C0C24B2-1005-5943-B83D-DD89F2FBFE2B}"/>
              </a:ext>
            </a:extLst>
          </p:cNvPr>
          <p:cNvSpPr/>
          <p:nvPr/>
        </p:nvSpPr>
        <p:spPr>
          <a:xfrm>
            <a:off x="390525" y="5486400"/>
            <a:ext cx="5429250" cy="9525"/>
          </a:xfrm>
          <a:prstGeom prst="rect">
            <a:avLst/>
          </a:prstGeom>
          <a:solidFill>
            <a:srgbClr val="9BA8B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B3D17848-275E-9944-A066-4DB72C347E69}"/>
              </a:ext>
            </a:extLst>
          </p:cNvPr>
          <p:cNvSpPr/>
          <p:nvPr/>
        </p:nvSpPr>
        <p:spPr>
          <a:xfrm>
            <a:off x="523875" y="4505325"/>
            <a:ext cx="419100" cy="419100"/>
          </a:xfrm>
          <a:prstGeom prst="ellipse">
            <a:avLst/>
          </a:prstGeom>
          <a:solidFill>
            <a:srgbClr val="FFFFFF"/>
          </a:solidFill>
          <a:ln w="25400" cap="flat" cmpd="sng" algn="ctr">
            <a:solidFill>
              <a:srgbClr val="1465B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b="1">
                <a:solidFill>
                  <a:srgbClr val="1465B3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60" name="mir_readiness_percent_1">
            <a:extLst>
              <a:ext uri="{FF2B5EF4-FFF2-40B4-BE49-F238E27FC236}">
                <a16:creationId xmlns:a16="http://schemas.microsoft.com/office/drawing/2014/main" id="{956FDC8A-BE0E-F740-9641-D221EEDFCDD4}"/>
              </a:ext>
            </a:extLst>
          </p:cNvPr>
          <p:cNvSpPr txBox="1"/>
          <p:nvPr/>
        </p:nvSpPr>
        <p:spPr>
          <a:xfrm>
            <a:off x="1095375" y="4486275"/>
            <a:ext cx="1000125" cy="428625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800" b="1" dirty="0">
                <a:solidFill>
                  <a:srgbClr val="1465B3"/>
                </a:solidFill>
                <a:latin typeface="Arial"/>
                <a:cs typeface="Arial"/>
              </a:rPr>
              <a:t>__%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F467C2E-1ECC-AE44-983A-EC015742178C}"/>
              </a:ext>
            </a:extLst>
          </p:cNvPr>
          <p:cNvSpPr/>
          <p:nvPr/>
        </p:nvSpPr>
        <p:spPr>
          <a:xfrm>
            <a:off x="2257425" y="4505325"/>
            <a:ext cx="9525" cy="419100"/>
          </a:xfrm>
          <a:prstGeom prst="rect">
            <a:avLst/>
          </a:prstGeom>
          <a:solidFill>
            <a:srgbClr val="9BA8B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E1E5D7B-93C0-3548-BF9F-CA8AEA9EA08A}"/>
              </a:ext>
            </a:extLst>
          </p:cNvPr>
          <p:cNvSpPr txBox="1"/>
          <p:nvPr/>
        </p:nvSpPr>
        <p:spPr>
          <a:xfrm>
            <a:off x="2524125" y="4446849"/>
            <a:ext cx="2476500" cy="1905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250" b="1">
                <a:solidFill>
                  <a:srgbClr val="1465B3"/>
                </a:solidFill>
                <a:latin typeface="Arial"/>
                <a:cs typeface="Arial"/>
              </a:rPr>
              <a:t>Resilience Readiness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90FEAC4-C182-3445-A83B-5C25403E3DB2}"/>
              </a:ext>
            </a:extLst>
          </p:cNvPr>
          <p:cNvSpPr txBox="1"/>
          <p:nvPr/>
        </p:nvSpPr>
        <p:spPr>
          <a:xfrm>
            <a:off x="2533650" y="4637349"/>
            <a:ext cx="2857500" cy="24765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50" dirty="0">
                <a:solidFill>
                  <a:srgbClr val="0B1020"/>
                </a:solidFill>
                <a:latin typeface="Arial"/>
                <a:cs typeface="Arial"/>
              </a:rPr>
              <a:t>Increased ability to handle military life challenges.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555A8B32-CD88-3F43-ACEC-3C54A1D6C3F8}"/>
              </a:ext>
            </a:extLst>
          </p:cNvPr>
          <p:cNvSpPr/>
          <p:nvPr/>
        </p:nvSpPr>
        <p:spPr>
          <a:xfrm>
            <a:off x="523875" y="5029200"/>
            <a:ext cx="419100" cy="419100"/>
          </a:xfrm>
          <a:prstGeom prst="ellipse">
            <a:avLst/>
          </a:prstGeom>
          <a:solidFill>
            <a:srgbClr val="FFFFFF"/>
          </a:solidFill>
          <a:ln w="25400" cap="flat" cmpd="sng" algn="ctr">
            <a:solidFill>
              <a:srgbClr val="5D146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b="1">
                <a:solidFill>
                  <a:srgbClr val="5D146F"/>
                </a:solidFill>
                <a:latin typeface="Arial"/>
                <a:cs typeface="Arial"/>
              </a:rPr>
              <a:t>●</a:t>
            </a:r>
          </a:p>
        </p:txBody>
      </p:sp>
      <p:sp>
        <p:nvSpPr>
          <p:cNvPr id="65" name="mir_readiness_percent_2">
            <a:extLst>
              <a:ext uri="{FF2B5EF4-FFF2-40B4-BE49-F238E27FC236}">
                <a16:creationId xmlns:a16="http://schemas.microsoft.com/office/drawing/2014/main" id="{AD045EE8-CE56-CE48-8636-1C3912F3823E}"/>
              </a:ext>
            </a:extLst>
          </p:cNvPr>
          <p:cNvSpPr txBox="1"/>
          <p:nvPr/>
        </p:nvSpPr>
        <p:spPr>
          <a:xfrm>
            <a:off x="1095375" y="5010150"/>
            <a:ext cx="1000125" cy="428625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800" b="1" dirty="0">
                <a:solidFill>
                  <a:srgbClr val="5D146F"/>
                </a:solidFill>
                <a:latin typeface="Arial"/>
                <a:cs typeface="Arial"/>
              </a:rPr>
              <a:t>__%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F14B5FC-B3DC-D14C-B496-4D09BE63B43C}"/>
              </a:ext>
            </a:extLst>
          </p:cNvPr>
          <p:cNvSpPr/>
          <p:nvPr/>
        </p:nvSpPr>
        <p:spPr>
          <a:xfrm>
            <a:off x="2257425" y="5029200"/>
            <a:ext cx="9525" cy="419100"/>
          </a:xfrm>
          <a:prstGeom prst="rect">
            <a:avLst/>
          </a:prstGeom>
          <a:solidFill>
            <a:srgbClr val="9BA8B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E597469-4F55-9241-9BE6-748A81AB30FB}"/>
              </a:ext>
            </a:extLst>
          </p:cNvPr>
          <p:cNvSpPr txBox="1"/>
          <p:nvPr/>
        </p:nvSpPr>
        <p:spPr>
          <a:xfrm>
            <a:off x="2533650" y="5029200"/>
            <a:ext cx="2476500" cy="1905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250" b="1">
                <a:solidFill>
                  <a:srgbClr val="5D146F"/>
                </a:solidFill>
                <a:latin typeface="Arial"/>
                <a:cs typeface="Arial"/>
              </a:rPr>
              <a:t>Relational Readiness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AE13CBC-9E0E-8345-849A-61CB8E69522B}"/>
              </a:ext>
            </a:extLst>
          </p:cNvPr>
          <p:cNvSpPr txBox="1"/>
          <p:nvPr/>
        </p:nvSpPr>
        <p:spPr>
          <a:xfrm>
            <a:off x="2533650" y="5219700"/>
            <a:ext cx="2857500" cy="24765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50">
                <a:solidFill>
                  <a:srgbClr val="0B1020"/>
                </a:solidFill>
                <a:latin typeface="Arial"/>
                <a:cs typeface="Arial"/>
              </a:rPr>
              <a:t>Stronger relationships and support networks.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410D34FC-5A61-3E4D-975B-3719E773754A}"/>
              </a:ext>
            </a:extLst>
          </p:cNvPr>
          <p:cNvSpPr/>
          <p:nvPr/>
        </p:nvSpPr>
        <p:spPr>
          <a:xfrm>
            <a:off x="523875" y="5553075"/>
            <a:ext cx="419100" cy="419100"/>
          </a:xfrm>
          <a:prstGeom prst="ellipse">
            <a:avLst/>
          </a:prstGeom>
          <a:solidFill>
            <a:srgbClr val="FFFFFF"/>
          </a:solidFill>
          <a:ln w="25400" cap="flat" cmpd="sng" algn="ctr">
            <a:solidFill>
              <a:srgbClr val="CA85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b="1">
                <a:solidFill>
                  <a:srgbClr val="CA8500"/>
                </a:solidFill>
                <a:latin typeface="Arial"/>
                <a:cs typeface="Arial"/>
              </a:rPr>
              <a:t>✦</a:t>
            </a:r>
          </a:p>
        </p:txBody>
      </p:sp>
      <p:sp>
        <p:nvSpPr>
          <p:cNvPr id="70" name="mir_readiness_percent_3">
            <a:extLst>
              <a:ext uri="{FF2B5EF4-FFF2-40B4-BE49-F238E27FC236}">
                <a16:creationId xmlns:a16="http://schemas.microsoft.com/office/drawing/2014/main" id="{1D2889FE-1CA4-7844-AC96-D855EB904E36}"/>
              </a:ext>
            </a:extLst>
          </p:cNvPr>
          <p:cNvSpPr txBox="1"/>
          <p:nvPr/>
        </p:nvSpPr>
        <p:spPr>
          <a:xfrm>
            <a:off x="1095375" y="5534025"/>
            <a:ext cx="1000125" cy="428625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800" b="1" dirty="0">
                <a:solidFill>
                  <a:srgbClr val="CA8500"/>
                </a:solidFill>
                <a:latin typeface="Arial"/>
                <a:cs typeface="Arial"/>
              </a:rPr>
              <a:t>__%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AA74320-3044-5345-B480-3FEA7F6377C1}"/>
              </a:ext>
            </a:extLst>
          </p:cNvPr>
          <p:cNvSpPr/>
          <p:nvPr/>
        </p:nvSpPr>
        <p:spPr>
          <a:xfrm>
            <a:off x="2257425" y="5553075"/>
            <a:ext cx="9525" cy="419100"/>
          </a:xfrm>
          <a:prstGeom prst="rect">
            <a:avLst/>
          </a:prstGeom>
          <a:solidFill>
            <a:srgbClr val="9BA8B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FD0546B-2168-144A-BE70-91B7F49BDBE6}"/>
              </a:ext>
            </a:extLst>
          </p:cNvPr>
          <p:cNvSpPr txBox="1"/>
          <p:nvPr/>
        </p:nvSpPr>
        <p:spPr>
          <a:xfrm>
            <a:off x="2562225" y="5495081"/>
            <a:ext cx="2476500" cy="1905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250" b="1" dirty="0">
                <a:solidFill>
                  <a:srgbClr val="CA8500"/>
                </a:solidFill>
                <a:latin typeface="Arial"/>
                <a:cs typeface="Arial"/>
              </a:rPr>
              <a:t>Spiritual Readiness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35B17CD-92DA-E441-BBF8-45320FF3CF0A}"/>
              </a:ext>
            </a:extLst>
          </p:cNvPr>
          <p:cNvSpPr txBox="1"/>
          <p:nvPr/>
        </p:nvSpPr>
        <p:spPr>
          <a:xfrm>
            <a:off x="2562225" y="5695950"/>
            <a:ext cx="2857500" cy="24765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50" dirty="0">
                <a:solidFill>
                  <a:srgbClr val="0B1020"/>
                </a:solidFill>
                <a:latin typeface="Arial"/>
                <a:cs typeface="Arial"/>
              </a:rPr>
              <a:t>Greater reflection on values, beliefs, and purpose.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808708E9-63D1-324F-986A-21BCAEF34620}"/>
              </a:ext>
            </a:extLst>
          </p:cNvPr>
          <p:cNvSpPr/>
          <p:nvPr/>
        </p:nvSpPr>
        <p:spPr>
          <a:xfrm>
            <a:off x="371475" y="6076950"/>
            <a:ext cx="5467350" cy="9525"/>
          </a:xfrm>
          <a:prstGeom prst="rect">
            <a:avLst/>
          </a:prstGeom>
          <a:solidFill>
            <a:srgbClr val="9BA8B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BFAC3DC-AD0F-C04E-9428-AA1CFC65D373}"/>
              </a:ext>
            </a:extLst>
          </p:cNvPr>
          <p:cNvSpPr/>
          <p:nvPr/>
        </p:nvSpPr>
        <p:spPr>
          <a:xfrm>
            <a:off x="371475" y="6086475"/>
            <a:ext cx="5467350" cy="342900"/>
          </a:xfrm>
          <a:prstGeom prst="rect">
            <a:avLst/>
          </a:prstGeom>
          <a:solidFill>
            <a:srgbClr val="EEF3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98A37DA-5242-9D49-8ADE-D95DBD891333}"/>
              </a:ext>
            </a:extLst>
          </p:cNvPr>
          <p:cNvSpPr txBox="1"/>
          <p:nvPr/>
        </p:nvSpPr>
        <p:spPr>
          <a:xfrm>
            <a:off x="485775" y="6134100"/>
            <a:ext cx="5238750" cy="266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US" sz="1150" b="1" i="1" dirty="0">
                <a:solidFill>
                  <a:srgbClr val="111827"/>
                </a:solidFill>
                <a:latin typeface="Arial"/>
                <a:cs typeface="Arial"/>
              </a:rPr>
              <a:t>Participants reported meaningful gains in key readiness areas.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F2E835F1-9D9A-3A43-BC1C-FCD4733B64D8}"/>
              </a:ext>
            </a:extLst>
          </p:cNvPr>
          <p:cNvSpPr/>
          <p:nvPr/>
        </p:nvSpPr>
        <p:spPr>
          <a:xfrm>
            <a:off x="6248399" y="4505325"/>
            <a:ext cx="1781175" cy="989756"/>
          </a:xfrm>
          <a:prstGeom prst="rect">
            <a:avLst/>
          </a:prstGeom>
          <a:solidFill>
            <a:srgbClr val="D7DCE3"/>
          </a:solidFill>
          <a:ln w="12700" cap="flat" cmpd="sng" algn="ctr">
            <a:solidFill>
              <a:srgbClr val="B0B7C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en-US" dirty="0"/>
          </a:p>
        </p:txBody>
      </p:sp>
      <p:sp>
        <p:nvSpPr>
          <p:cNvPr id="78" name="mir_photo_slot_1">
            <a:extLst>
              <a:ext uri="{FF2B5EF4-FFF2-40B4-BE49-F238E27FC236}">
                <a16:creationId xmlns:a16="http://schemas.microsoft.com/office/drawing/2014/main" id="{6B96B2DD-9BF8-9F40-AA26-AFA0E00EB42B}"/>
              </a:ext>
            </a:extLst>
          </p:cNvPr>
          <p:cNvSpPr txBox="1"/>
          <p:nvPr/>
        </p:nvSpPr>
        <p:spPr>
          <a:xfrm>
            <a:off x="6315075" y="4876800"/>
            <a:ext cx="17145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800" b="1">
                <a:solidFill>
                  <a:srgbClr val="5B6778"/>
                </a:solidFill>
                <a:latin typeface="Arial"/>
                <a:cs typeface="Arial"/>
              </a:rPr>
              <a:t>PHOTO 1</a:t>
            </a:r>
          </a:p>
        </p:txBody>
      </p:sp>
      <p:sp>
        <p:nvSpPr>
          <p:cNvPr id="79" name="mir_photo_slot_1_title">
            <a:extLst>
              <a:ext uri="{FF2B5EF4-FFF2-40B4-BE49-F238E27FC236}">
                <a16:creationId xmlns:a16="http://schemas.microsoft.com/office/drawing/2014/main" id="{111FF044-BC7B-9240-A33F-ED4AEB21D036}"/>
              </a:ext>
            </a:extLst>
          </p:cNvPr>
          <p:cNvSpPr txBox="1"/>
          <p:nvPr/>
        </p:nvSpPr>
        <p:spPr>
          <a:xfrm>
            <a:off x="6315075" y="5562600"/>
            <a:ext cx="1714500" cy="20955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ctr"/>
            <a:r>
              <a:rPr lang="en-US" sz="1300" b="1">
                <a:solidFill>
                  <a:srgbClr val="5D146F"/>
                </a:solidFill>
                <a:latin typeface="Arial"/>
                <a:cs typeface="Arial"/>
              </a:rPr>
              <a:t>[Event Title]</a:t>
            </a:r>
          </a:p>
        </p:txBody>
      </p:sp>
      <p:sp>
        <p:nvSpPr>
          <p:cNvPr id="80" name="mir_photo_slot_1_caption">
            <a:extLst>
              <a:ext uri="{FF2B5EF4-FFF2-40B4-BE49-F238E27FC236}">
                <a16:creationId xmlns:a16="http://schemas.microsoft.com/office/drawing/2014/main" id="{2C8EC7D2-3A78-454E-B827-F1F84D0C9892}"/>
              </a:ext>
            </a:extLst>
          </p:cNvPr>
          <p:cNvSpPr txBox="1"/>
          <p:nvPr/>
        </p:nvSpPr>
        <p:spPr>
          <a:xfrm>
            <a:off x="6315075" y="5753100"/>
            <a:ext cx="1714500" cy="28575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880" b="1">
                <a:solidFill>
                  <a:srgbClr val="0B1020"/>
                </a:solidFill>
                <a:latin typeface="Arial"/>
                <a:cs typeface="Arial"/>
              </a:rPr>
              <a:t>Enter photo caption for command highlight 1.</a:t>
            </a:r>
          </a:p>
        </p:txBody>
      </p:sp>
      <p:pic>
        <p:nvPicPr>
          <p:cNvPr id="9100" name="mir_photo_2">
            <a:extLst>
              <a:ext uri="{FF2B5EF4-FFF2-40B4-BE49-F238E27FC236}">
                <a16:creationId xmlns:a16="http://schemas.microsoft.com/office/drawing/2014/main" id="{E3B87601-4C5F-458C-BFDC-3CAF22119A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 l="31770" t="0" r="31770" b="0"/>
          </a:stretch>
        </p:blipFill>
        <p:spPr>
          <a:xfrm>
            <a:off x="8153400" y="4504902"/>
            <a:ext cx="1809750" cy="989755"/>
          </a:xfrm>
          <a:prstGeom prst="rect">
            <a:avLst/>
          </a:prstGeom>
        </p:spPr>
      </p:pic>
      <p:sp>
        <p:nvSpPr>
          <p:cNvPr id="83" name="mir_photo_slot_2_title">
            <a:extLst>
              <a:ext uri="{FF2B5EF4-FFF2-40B4-BE49-F238E27FC236}">
                <a16:creationId xmlns:a16="http://schemas.microsoft.com/office/drawing/2014/main" id="{D829E633-DE79-6141-B427-EAB473535927}"/>
              </a:ext>
            </a:extLst>
          </p:cNvPr>
          <p:cNvSpPr txBox="1"/>
          <p:nvPr/>
        </p:nvSpPr>
        <p:spPr>
          <a:xfrm>
            <a:off x="8220075" y="5562600"/>
            <a:ext cx="1714500" cy="20955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ctr"/>
            <a:r>
              <a:rPr lang="en-US" sz="1300" b="1">
                <a:solidFill>
                  <a:srgbClr val="34752B"/>
                </a:solidFill>
                <a:latin typeface="Arial"/>
                <a:cs typeface="Arial"/>
              </a:rPr>
              <a:t>[Event Title]</a:t>
            </a:r>
          </a:p>
        </p:txBody>
      </p:sp>
      <p:sp>
        <p:nvSpPr>
          <p:cNvPr id="84" name="mir_photo_slot_2_caption">
            <a:extLst>
              <a:ext uri="{FF2B5EF4-FFF2-40B4-BE49-F238E27FC236}">
                <a16:creationId xmlns:a16="http://schemas.microsoft.com/office/drawing/2014/main" id="{08EA3C0A-D11A-C544-A71C-D9FED2DD7CF0}"/>
              </a:ext>
            </a:extLst>
          </p:cNvPr>
          <p:cNvSpPr txBox="1"/>
          <p:nvPr/>
        </p:nvSpPr>
        <p:spPr>
          <a:xfrm>
            <a:off x="8220075" y="5753100"/>
            <a:ext cx="1714500" cy="28575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880" b="1">
                <a:solidFill>
                  <a:srgbClr val="0B1020"/>
                </a:solidFill>
                <a:latin typeface="Arial"/>
                <a:cs typeface="Arial"/>
              </a:rPr>
              <a:t>Enter photo caption for command highlight 2.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0C3FB7B8-954E-C24C-BE4A-44B06284D003}"/>
              </a:ext>
            </a:extLst>
          </p:cNvPr>
          <p:cNvSpPr/>
          <p:nvPr/>
        </p:nvSpPr>
        <p:spPr>
          <a:xfrm>
            <a:off x="10086975" y="4503047"/>
            <a:ext cx="1781174" cy="989754"/>
          </a:xfrm>
          <a:prstGeom prst="rect">
            <a:avLst/>
          </a:prstGeom>
          <a:solidFill>
            <a:srgbClr val="D7DCE3"/>
          </a:solidFill>
          <a:ln w="12700" cap="flat" cmpd="sng" algn="ctr">
            <a:solidFill>
              <a:srgbClr val="B0B7C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6" name="mir_photo_slot_3">
            <a:extLst>
              <a:ext uri="{FF2B5EF4-FFF2-40B4-BE49-F238E27FC236}">
                <a16:creationId xmlns:a16="http://schemas.microsoft.com/office/drawing/2014/main" id="{E9F4ADCB-5801-7549-BB8D-16AF6778AFB3}"/>
              </a:ext>
            </a:extLst>
          </p:cNvPr>
          <p:cNvSpPr txBox="1"/>
          <p:nvPr/>
        </p:nvSpPr>
        <p:spPr>
          <a:xfrm>
            <a:off x="10125075" y="4876800"/>
            <a:ext cx="17145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800" b="1">
                <a:solidFill>
                  <a:srgbClr val="5B6778"/>
                </a:solidFill>
                <a:latin typeface="Arial"/>
                <a:cs typeface="Arial"/>
              </a:rPr>
              <a:t>PHOTO 3</a:t>
            </a:r>
          </a:p>
        </p:txBody>
      </p:sp>
      <p:sp>
        <p:nvSpPr>
          <p:cNvPr id="87" name="mir_photo_slot_3_title">
            <a:extLst>
              <a:ext uri="{FF2B5EF4-FFF2-40B4-BE49-F238E27FC236}">
                <a16:creationId xmlns:a16="http://schemas.microsoft.com/office/drawing/2014/main" id="{C0011D41-397F-1D4E-BDA8-FEFB6E2FD457}"/>
              </a:ext>
            </a:extLst>
          </p:cNvPr>
          <p:cNvSpPr txBox="1"/>
          <p:nvPr/>
        </p:nvSpPr>
        <p:spPr>
          <a:xfrm>
            <a:off x="10125075" y="5562600"/>
            <a:ext cx="1714500" cy="20955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ctr"/>
            <a:r>
              <a:rPr lang="en-US" sz="1300" b="1">
                <a:solidFill>
                  <a:srgbClr val="19788A"/>
                </a:solidFill>
                <a:latin typeface="Arial"/>
                <a:cs typeface="Arial"/>
              </a:rPr>
              <a:t>[Event Title]</a:t>
            </a:r>
          </a:p>
        </p:txBody>
      </p:sp>
      <p:sp>
        <p:nvSpPr>
          <p:cNvPr id="88" name="mir_photo_slot_3_caption">
            <a:extLst>
              <a:ext uri="{FF2B5EF4-FFF2-40B4-BE49-F238E27FC236}">
                <a16:creationId xmlns:a16="http://schemas.microsoft.com/office/drawing/2014/main" id="{EE8F53B2-43E4-E04F-98FD-789E050AC703}"/>
              </a:ext>
            </a:extLst>
          </p:cNvPr>
          <p:cNvSpPr txBox="1"/>
          <p:nvPr/>
        </p:nvSpPr>
        <p:spPr>
          <a:xfrm>
            <a:off x="10125075" y="5753100"/>
            <a:ext cx="1714500" cy="28575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880" b="1">
                <a:solidFill>
                  <a:srgbClr val="0B1020"/>
                </a:solidFill>
                <a:latin typeface="Arial"/>
                <a:cs typeface="Arial"/>
              </a:rPr>
              <a:t>Enter photo caption for command highlight 3.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DEFF5C9-87CA-E04F-A437-D5E763AE4E35}"/>
              </a:ext>
            </a:extLst>
          </p:cNvPr>
          <p:cNvSpPr/>
          <p:nvPr/>
        </p:nvSpPr>
        <p:spPr>
          <a:xfrm>
            <a:off x="6334125" y="6124575"/>
            <a:ext cx="5495925" cy="9525"/>
          </a:xfrm>
          <a:prstGeom prst="rect">
            <a:avLst/>
          </a:prstGeom>
          <a:solidFill>
            <a:srgbClr val="9BA8B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7383233F-939E-774A-8FA2-1AEA88D64A75}"/>
              </a:ext>
            </a:extLst>
          </p:cNvPr>
          <p:cNvSpPr/>
          <p:nvPr/>
        </p:nvSpPr>
        <p:spPr>
          <a:xfrm>
            <a:off x="6334125" y="6134100"/>
            <a:ext cx="5495925" cy="314325"/>
          </a:xfrm>
          <a:prstGeom prst="rect">
            <a:avLst/>
          </a:prstGeom>
          <a:solidFill>
            <a:srgbClr val="EEF3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E62DAA2-1BC3-5546-B9C9-19E10DAEEC39}"/>
              </a:ext>
            </a:extLst>
          </p:cNvPr>
          <p:cNvSpPr txBox="1"/>
          <p:nvPr/>
        </p:nvSpPr>
        <p:spPr>
          <a:xfrm>
            <a:off x="6572250" y="6200775"/>
            <a:ext cx="5019675" cy="1905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100" b="1" i="1">
                <a:solidFill>
                  <a:srgbClr val="111827"/>
                </a:solidFill>
                <a:latin typeface="Arial"/>
                <a:cs typeface="Arial"/>
              </a:rPr>
              <a:t>Commands are applying skills that strengthen people and readiness.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7656EA6F-79E5-5F41-A492-A954992598CE}"/>
              </a:ext>
            </a:extLst>
          </p:cNvPr>
          <p:cNvSpPr/>
          <p:nvPr/>
        </p:nvSpPr>
        <p:spPr>
          <a:xfrm>
            <a:off x="152400" y="6734175"/>
            <a:ext cx="4171950" cy="95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AAAE2F22-5393-0741-B9BF-012974FFDF5E}"/>
              </a:ext>
            </a:extLst>
          </p:cNvPr>
          <p:cNvSpPr/>
          <p:nvPr/>
        </p:nvSpPr>
        <p:spPr>
          <a:xfrm>
            <a:off x="7677150" y="6734175"/>
            <a:ext cx="4362450" cy="95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6B5DB60-4784-8545-8366-24F0A2C72A66}"/>
              </a:ext>
            </a:extLst>
          </p:cNvPr>
          <p:cNvSpPr txBox="1"/>
          <p:nvPr/>
        </p:nvSpPr>
        <p:spPr>
          <a:xfrm>
            <a:off x="4495800" y="6677025"/>
            <a:ext cx="3219450" cy="152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50" i="1">
                <a:solidFill>
                  <a:srgbClr val="06245A"/>
                </a:solidFill>
                <a:latin typeface="Arial"/>
                <a:cs typeface="Arial"/>
              </a:rPr>
              <a:t>Source: CREDO Impact Tracker &amp; Post-Event Evaluations</a:t>
            </a:r>
          </a:p>
        </p:txBody>
      </p:sp>
      <p:sp>
        <p:nvSpPr>
          <p:cNvPr id="7" name="mir_month_label">
            <a:extLst>
              <a:ext uri="{FF2B5EF4-FFF2-40B4-BE49-F238E27FC236}">
                <a16:creationId xmlns:a16="http://schemas.microsoft.com/office/drawing/2014/main" id="{8BCB519E-51ED-1F40-85A5-87FE4AC60EDD}"/>
              </a:ext>
            </a:extLst>
          </p:cNvPr>
          <p:cNvSpPr txBox="1"/>
          <p:nvPr/>
        </p:nvSpPr>
        <p:spPr>
          <a:xfrm>
            <a:off x="4667250" y="466725"/>
            <a:ext cx="2857500" cy="228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750" b="1" dirty="0">
                <a:solidFill>
                  <a:srgbClr val="06245A"/>
                </a:solidFill>
                <a:latin typeface="Arial"/>
                <a:cs typeface="Arial"/>
              </a:rPr>
              <a:t>JUNE 2026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495925-12D2-094C-A0E2-CC42A8D776B8}"/>
              </a:ext>
            </a:extLst>
          </p:cNvPr>
          <p:cNvSpPr txBox="1"/>
          <p:nvPr/>
        </p:nvSpPr>
        <p:spPr>
          <a:xfrm>
            <a:off x="400050" y="1924050"/>
            <a:ext cx="1885950" cy="1714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50" b="1">
                <a:solidFill>
                  <a:srgbClr val="092A63"/>
                </a:solidFill>
              </a:rPr>
              <a:t>MONTH REACH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307016-A6EB-B949-B0FA-54C54C376BC4}"/>
              </a:ext>
            </a:extLst>
          </p:cNvPr>
          <p:cNvSpPr txBox="1"/>
          <p:nvPr/>
        </p:nvSpPr>
        <p:spPr>
          <a:xfrm>
            <a:off x="3124200" y="1924050"/>
            <a:ext cx="2171700" cy="1714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50" b="1">
                <a:solidFill>
                  <a:srgbClr val="092A63"/>
                </a:solidFill>
              </a:rPr>
              <a:t>FYTD MISSION SUPPORT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2C46E5B6-290C-CB40-B2D0-EBBF118B7D1A}"/>
              </a:ext>
            </a:extLst>
          </p:cNvPr>
          <p:cNvSpPr/>
          <p:nvPr/>
        </p:nvSpPr>
        <p:spPr>
          <a:xfrm>
            <a:off x="2914650" y="1933575"/>
            <a:ext cx="9525" cy="8255"/>
          </a:xfrm>
          <a:prstGeom prst="rect">
            <a:avLst/>
          </a:prstGeom>
          <a:solidFill>
            <a:srgbClr val="93A0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8A1173CD-74FE-C34C-8A57-38497569AE95}"/>
              </a:ext>
            </a:extLst>
          </p:cNvPr>
          <p:cNvSpPr/>
          <p:nvPr/>
        </p:nvSpPr>
        <p:spPr>
          <a:xfrm>
            <a:off x="2914650" y="1924050"/>
            <a:ext cx="9525" cy="1704975"/>
          </a:xfrm>
          <a:prstGeom prst="rect">
            <a:avLst/>
          </a:prstGeom>
          <a:solidFill>
            <a:srgbClr val="93A0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7" name="mir_month_reach_commands">
            <a:extLst>
              <a:ext uri="{FF2B5EF4-FFF2-40B4-BE49-F238E27FC236}">
                <a16:creationId xmlns:a16="http://schemas.microsoft.com/office/drawing/2014/main" id="{1AA6B27F-ACE9-6F46-B5C9-782E5C73A5C2}"/>
              </a:ext>
            </a:extLst>
          </p:cNvPr>
          <p:cNvSpPr/>
          <p:nvPr/>
        </p:nvSpPr>
        <p:spPr>
          <a:xfrm>
            <a:off x="409575" y="2209800"/>
            <a:ext cx="419100" cy="21907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F6DB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/>
          <a:lstStyle/>
          <a:p>
            <a:pPr algn="ctr"/>
            <a:r>
              <a:rPr lang="en-US" sz="970" b="1">
                <a:solidFill>
                  <a:srgbClr val="0F6DB8"/>
                </a:solidFill>
              </a:rPr>
              <a:t>1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E2D459F-C8E6-7E44-AACF-58D9838F2AA8}"/>
              </a:ext>
            </a:extLst>
          </p:cNvPr>
          <p:cNvSpPr txBox="1"/>
          <p:nvPr/>
        </p:nvSpPr>
        <p:spPr>
          <a:xfrm>
            <a:off x="914400" y="2219325"/>
            <a:ext cx="18288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Commands supported</a:t>
            </a:r>
          </a:p>
        </p:txBody>
      </p:sp>
      <p:sp>
        <p:nvSpPr>
          <p:cNvPr id="100" name="mir_month_reach_beneficiaries">
            <a:extLst>
              <a:ext uri="{FF2B5EF4-FFF2-40B4-BE49-F238E27FC236}">
                <a16:creationId xmlns:a16="http://schemas.microsoft.com/office/drawing/2014/main" id="{605123A2-0EE8-C248-8F59-66E5185454FB}"/>
              </a:ext>
            </a:extLst>
          </p:cNvPr>
          <p:cNvSpPr/>
          <p:nvPr/>
        </p:nvSpPr>
        <p:spPr>
          <a:xfrm>
            <a:off x="409575" y="2505075"/>
            <a:ext cx="419100" cy="21907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92A6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/>
          <a:lstStyle/>
          <a:p>
            <a:pPr algn="ctr"/>
            <a:r>
              <a:rPr lang="en-US" sz="890" b="1">
                <a:solidFill>
                  <a:srgbClr val="092A63"/>
                </a:solidFill>
              </a:rPr>
              <a:t>1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92743093-1B86-394F-8D78-F2CF71486417}"/>
              </a:ext>
            </a:extLst>
          </p:cNvPr>
          <p:cNvSpPr txBox="1"/>
          <p:nvPr/>
        </p:nvSpPr>
        <p:spPr>
          <a:xfrm>
            <a:off x="914400" y="2514600"/>
            <a:ext cx="18288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Beneficiaries served</a:t>
            </a:r>
          </a:p>
        </p:txBody>
      </p:sp>
      <p:sp>
        <p:nvSpPr>
          <p:cNvPr id="103" name="mir_month_reach_workshops">
            <a:extLst>
              <a:ext uri="{FF2B5EF4-FFF2-40B4-BE49-F238E27FC236}">
                <a16:creationId xmlns:a16="http://schemas.microsoft.com/office/drawing/2014/main" id="{64BF01DF-3CB3-E54C-AFB8-06F7F65EEEC0}"/>
              </a:ext>
            </a:extLst>
          </p:cNvPr>
          <p:cNvSpPr/>
          <p:nvPr/>
        </p:nvSpPr>
        <p:spPr>
          <a:xfrm>
            <a:off x="409575" y="2800350"/>
            <a:ext cx="419100" cy="21907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C7A8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/>
          <a:lstStyle/>
          <a:p>
            <a:pPr algn="ctr"/>
            <a:r>
              <a:rPr lang="en-US" sz="970" b="1">
                <a:solidFill>
                  <a:srgbClr val="0C7A8B"/>
                </a:solidFill>
              </a:rPr>
              <a:t>1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3945DAED-20C8-6647-ABE0-E8471F33B00D}"/>
              </a:ext>
            </a:extLst>
          </p:cNvPr>
          <p:cNvSpPr txBox="1"/>
          <p:nvPr/>
        </p:nvSpPr>
        <p:spPr>
          <a:xfrm>
            <a:off x="914400" y="2809875"/>
            <a:ext cx="18288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Workshops conducted</a:t>
            </a:r>
          </a:p>
        </p:txBody>
      </p:sp>
      <p:sp>
        <p:nvSpPr>
          <p:cNvPr id="106" name="mir_month_reach_retreats">
            <a:extLst>
              <a:ext uri="{FF2B5EF4-FFF2-40B4-BE49-F238E27FC236}">
                <a16:creationId xmlns:a16="http://schemas.microsoft.com/office/drawing/2014/main" id="{3B9AC33D-36F8-694D-925D-AFCB27F494B5}"/>
              </a:ext>
            </a:extLst>
          </p:cNvPr>
          <p:cNvSpPr/>
          <p:nvPr/>
        </p:nvSpPr>
        <p:spPr>
          <a:xfrm>
            <a:off x="409575" y="3095625"/>
            <a:ext cx="419100" cy="21907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C986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/>
          <a:lstStyle/>
          <a:p>
            <a:pPr algn="ctr"/>
            <a:r>
              <a:rPr lang="en-US" sz="970" b="1">
                <a:solidFill>
                  <a:srgbClr val="C98600"/>
                </a:solidFill>
              </a:rPr>
              <a:t>1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3AE5011F-627C-A44B-81E5-9AC88A7E152A}"/>
              </a:ext>
            </a:extLst>
          </p:cNvPr>
          <p:cNvSpPr txBox="1"/>
          <p:nvPr/>
        </p:nvSpPr>
        <p:spPr>
          <a:xfrm>
            <a:off x="914400" y="3105150"/>
            <a:ext cx="18288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Retreat conducted</a:t>
            </a: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91DD5DB9-5008-8F47-BB9F-748A9DCE1179}"/>
              </a:ext>
            </a:extLst>
          </p:cNvPr>
          <p:cNvSpPr/>
          <p:nvPr/>
        </p:nvSpPr>
        <p:spPr>
          <a:xfrm>
            <a:off x="3143250" y="2209928"/>
            <a:ext cx="238125" cy="238125"/>
          </a:xfrm>
          <a:prstGeom prst="ellipse">
            <a:avLst/>
          </a:prstGeom>
          <a:solidFill>
            <a:srgbClr val="FFFFFF"/>
          </a:solidFill>
          <a:ln w="15875" cap="flat" cmpd="sng" algn="ctr">
            <a:solidFill>
              <a:srgbClr val="6B1A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ctr"/>
            <a:r>
              <a:rPr lang="en-US" sz="800" b="1">
                <a:solidFill>
                  <a:srgbClr val="6B1A7A"/>
                </a:solidFill>
              </a:rPr>
              <a:t>M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192A748-05A1-1040-9904-B61EB1C1C13E}"/>
              </a:ext>
            </a:extLst>
          </p:cNvPr>
          <p:cNvSpPr txBox="1"/>
          <p:nvPr/>
        </p:nvSpPr>
        <p:spPr>
          <a:xfrm>
            <a:off x="3486150" y="2228978"/>
            <a:ext cx="14859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Marriage enrichment</a:t>
            </a:r>
          </a:p>
        </p:txBody>
      </p:sp>
      <p:sp>
        <p:nvSpPr>
          <p:cNvPr id="111" name="mir_fytd_marriage">
            <a:extLst>
              <a:ext uri="{FF2B5EF4-FFF2-40B4-BE49-F238E27FC236}">
                <a16:creationId xmlns:a16="http://schemas.microsoft.com/office/drawing/2014/main" id="{B25163ED-993C-9949-A488-8703237543E3}"/>
              </a:ext>
            </a:extLst>
          </p:cNvPr>
          <p:cNvSpPr txBox="1"/>
          <p:nvPr/>
        </p:nvSpPr>
        <p:spPr>
          <a:xfrm>
            <a:off x="5086350" y="2219453"/>
            <a:ext cx="571500" cy="2095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6B1A7A"/>
                </a:solidFill>
              </a:rPr>
              <a:t>1</a:t>
            </a: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D91CAA7F-0FC2-434C-8A3B-012C741A416F}"/>
              </a:ext>
            </a:extLst>
          </p:cNvPr>
          <p:cNvSpPr/>
          <p:nvPr/>
        </p:nvSpPr>
        <p:spPr>
          <a:xfrm>
            <a:off x="3143250" y="2492761"/>
            <a:ext cx="238125" cy="238125"/>
          </a:xfrm>
          <a:prstGeom prst="ellipse">
            <a:avLst/>
          </a:prstGeom>
          <a:solidFill>
            <a:srgbClr val="FFFFFF"/>
          </a:solidFill>
          <a:ln w="15875" cap="flat" cmpd="sng" algn="ctr">
            <a:solidFill>
              <a:srgbClr val="2D7D2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ctr"/>
            <a:r>
              <a:rPr lang="en-US" sz="800" b="1">
                <a:solidFill>
                  <a:srgbClr val="2D7D2F"/>
                </a:solidFill>
              </a:rPr>
              <a:t>P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815EE006-CE8D-4A47-80FF-93C98258E798}"/>
              </a:ext>
            </a:extLst>
          </p:cNvPr>
          <p:cNvSpPr txBox="1"/>
          <p:nvPr/>
        </p:nvSpPr>
        <p:spPr>
          <a:xfrm>
            <a:off x="3486150" y="2511811"/>
            <a:ext cx="14859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Personal growth</a:t>
            </a:r>
          </a:p>
        </p:txBody>
      </p:sp>
      <p:sp>
        <p:nvSpPr>
          <p:cNvPr id="114" name="mir_fytd_personal_growth">
            <a:extLst>
              <a:ext uri="{FF2B5EF4-FFF2-40B4-BE49-F238E27FC236}">
                <a16:creationId xmlns:a16="http://schemas.microsoft.com/office/drawing/2014/main" id="{B3BCA619-049B-E24C-8738-46284CA34B1F}"/>
              </a:ext>
            </a:extLst>
          </p:cNvPr>
          <p:cNvSpPr txBox="1"/>
          <p:nvPr/>
        </p:nvSpPr>
        <p:spPr>
          <a:xfrm>
            <a:off x="5086350" y="2502286"/>
            <a:ext cx="571500" cy="2095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2D7D2F"/>
                </a:solidFill>
              </a:rPr>
              <a:t>1</a:t>
            </a:r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7FF81B9A-5317-D846-90B1-27062241AE3B}"/>
              </a:ext>
            </a:extLst>
          </p:cNvPr>
          <p:cNvSpPr/>
          <p:nvPr/>
        </p:nvSpPr>
        <p:spPr>
          <a:xfrm>
            <a:off x="3143250" y="2775594"/>
            <a:ext cx="238125" cy="238125"/>
          </a:xfrm>
          <a:prstGeom prst="ellipse">
            <a:avLst/>
          </a:prstGeom>
          <a:solidFill>
            <a:srgbClr val="FFFFFF"/>
          </a:solidFill>
          <a:ln w="15875" cap="flat" cmpd="sng" algn="ctr">
            <a:solidFill>
              <a:srgbClr val="0C7A8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ctr"/>
            <a:r>
              <a:rPr lang="en-US" sz="800" b="1">
                <a:solidFill>
                  <a:srgbClr val="0C7A8B"/>
                </a:solidFill>
              </a:rPr>
              <a:t>S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E07C9628-A568-4647-ABBB-5E46D39415AA}"/>
              </a:ext>
            </a:extLst>
          </p:cNvPr>
          <p:cNvSpPr txBox="1"/>
          <p:nvPr/>
        </p:nvSpPr>
        <p:spPr>
          <a:xfrm>
            <a:off x="3486150" y="2794644"/>
            <a:ext cx="14859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Suicide intervention</a:t>
            </a:r>
          </a:p>
        </p:txBody>
      </p:sp>
      <p:sp>
        <p:nvSpPr>
          <p:cNvPr id="117" name="mir_fytd_suicide">
            <a:extLst>
              <a:ext uri="{FF2B5EF4-FFF2-40B4-BE49-F238E27FC236}">
                <a16:creationId xmlns:a16="http://schemas.microsoft.com/office/drawing/2014/main" id="{DC411413-BED2-7A4B-ADAD-39391C3B0A73}"/>
              </a:ext>
            </a:extLst>
          </p:cNvPr>
          <p:cNvSpPr txBox="1"/>
          <p:nvPr/>
        </p:nvSpPr>
        <p:spPr>
          <a:xfrm>
            <a:off x="5086350" y="2785119"/>
            <a:ext cx="571500" cy="2095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0C7A8B"/>
                </a:solidFill>
              </a:rPr>
              <a:t>1</a:t>
            </a:r>
          </a:p>
        </p:txBody>
      </p:sp>
      <p:sp>
        <p:nvSpPr>
          <p:cNvPr id="193" name="mir_fytd_retreats_icon">
            <a:extLst>
              <a:ext uri="{FF2B5EF4-FFF2-40B4-BE49-F238E27FC236}">
                <a16:creationId xmlns:a16="http://schemas.microsoft.com/office/drawing/2014/main" id="{D672226F-3D49-4E07-BC0F-8FF85B9623C4}"/>
              </a:ext>
            </a:extLst>
          </p:cNvPr>
          <p:cNvSpPr/>
          <p:nvPr/>
        </p:nvSpPr>
        <p:spPr>
          <a:xfrm>
            <a:off x="3143250" y="3058427"/>
            <a:ext cx="238125" cy="238125"/>
          </a:xfrm>
          <a:prstGeom prst="ellipse">
            <a:avLst/>
          </a:prstGeom>
          <a:solidFill>
            <a:srgbClr val="FFFFFF"/>
          </a:solidFill>
          <a:ln w="15875" cap="flat" cmpd="sng" algn="ctr">
            <a:solidFill>
              <a:srgbClr val="0C7A8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ctr"/>
            <a:r>
              <a:rPr lang="en-US" sz="800" b="1">
                <a:solidFill>
                  <a:srgbClr val="0C7A8B"/>
                </a:solidFill>
              </a:rPr>
              <a:t>R</a:t>
            </a:r>
          </a:p>
        </p:txBody>
      </p:sp>
      <p:sp>
        <p:nvSpPr>
          <p:cNvPr id="194" name="mir_fytd_retreats_label">
            <a:extLst>
              <a:ext uri="{FF2B5EF4-FFF2-40B4-BE49-F238E27FC236}">
                <a16:creationId xmlns:a16="http://schemas.microsoft.com/office/drawing/2014/main" id="{8D06DB87-E28B-4111-BA2E-1A8573F9D3A4}"/>
              </a:ext>
            </a:extLst>
          </p:cNvPr>
          <p:cNvSpPr txBox="1"/>
          <p:nvPr/>
        </p:nvSpPr>
        <p:spPr>
          <a:xfrm>
            <a:off x="3486150" y="3077477"/>
            <a:ext cx="14859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Retreats</a:t>
            </a:r>
          </a:p>
        </p:txBody>
      </p:sp>
      <p:sp>
        <p:nvSpPr>
          <p:cNvPr id="195" name="mir_fytd_retreats">
            <a:extLst>
              <a:ext uri="{FF2B5EF4-FFF2-40B4-BE49-F238E27FC236}">
                <a16:creationId xmlns:a16="http://schemas.microsoft.com/office/drawing/2014/main" id="{060813E5-CB64-4BA4-AD93-901071B92149}"/>
              </a:ext>
            </a:extLst>
          </p:cNvPr>
          <p:cNvSpPr txBox="1"/>
          <p:nvPr/>
        </p:nvSpPr>
        <p:spPr>
          <a:xfrm>
            <a:off x="5086350" y="3067952"/>
            <a:ext cx="571500" cy="2095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0C7A8B"/>
                </a:solidFill>
              </a:rPr>
              <a:t>1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47D27ECC-1A15-FF47-B870-FC83060BFD74}"/>
              </a:ext>
            </a:extLst>
          </p:cNvPr>
          <p:cNvSpPr/>
          <p:nvPr/>
        </p:nvSpPr>
        <p:spPr>
          <a:xfrm>
            <a:off x="3143250" y="3341260"/>
            <a:ext cx="2495550" cy="8255"/>
          </a:xfrm>
          <a:prstGeom prst="rect">
            <a:avLst/>
          </a:prstGeom>
          <a:solidFill>
            <a:srgbClr val="93A0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65555C32-F69A-274F-B767-440C6312A869}"/>
              </a:ext>
            </a:extLst>
          </p:cNvPr>
          <p:cNvSpPr txBox="1"/>
          <p:nvPr/>
        </p:nvSpPr>
        <p:spPr>
          <a:xfrm>
            <a:off x="3486150" y="3378432"/>
            <a:ext cx="14859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>
                <a:solidFill>
                  <a:srgbClr val="061B44"/>
                </a:solidFill>
              </a:rPr>
              <a:t>FYTD TOTAL</a:t>
            </a:r>
          </a:p>
        </p:txBody>
      </p:sp>
      <p:sp>
        <p:nvSpPr>
          <p:cNvPr id="120" name="mir_fytd_total">
            <a:extLst>
              <a:ext uri="{FF2B5EF4-FFF2-40B4-BE49-F238E27FC236}">
                <a16:creationId xmlns:a16="http://schemas.microsoft.com/office/drawing/2014/main" id="{356351C4-DD2F-3E4C-88A7-2084B14CAEBC}"/>
              </a:ext>
            </a:extLst>
          </p:cNvPr>
          <p:cNvSpPr txBox="1"/>
          <p:nvPr/>
        </p:nvSpPr>
        <p:spPr>
          <a:xfrm>
            <a:off x="5086350" y="3368907"/>
            <a:ext cx="571500" cy="2095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200" b="1" dirty="0">
                <a:solidFill>
                  <a:srgbClr val="061B44"/>
                </a:solidFill>
              </a:rPr>
              <a:t>1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8F5D96BB-868C-A64F-ADC4-336D22EBBF1D}"/>
              </a:ext>
            </a:extLst>
          </p:cNvPr>
          <p:cNvSpPr txBox="1"/>
          <p:nvPr/>
        </p:nvSpPr>
        <p:spPr>
          <a:xfrm>
            <a:off x="3486150" y="3661265"/>
            <a:ext cx="14859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>
                <a:solidFill>
                  <a:srgbClr val="061B44"/>
                </a:solidFill>
              </a:rPr>
              <a:t>COMMANDS</a:t>
            </a:r>
          </a:p>
        </p:txBody>
      </p:sp>
      <p:sp>
        <p:nvSpPr>
          <p:cNvPr id="122" name="mir_fytd_commands">
            <a:extLst>
              <a:ext uri="{FF2B5EF4-FFF2-40B4-BE49-F238E27FC236}">
                <a16:creationId xmlns:a16="http://schemas.microsoft.com/office/drawing/2014/main" id="{B18AA30D-026A-D949-A6D0-03598F8CC7AA}"/>
              </a:ext>
            </a:extLst>
          </p:cNvPr>
          <p:cNvSpPr txBox="1"/>
          <p:nvPr/>
        </p:nvSpPr>
        <p:spPr>
          <a:xfrm>
            <a:off x="5086350" y="3651740"/>
            <a:ext cx="571500" cy="2095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200" b="1">
                <a:solidFill>
                  <a:srgbClr val="061B44"/>
                </a:solidFill>
              </a:rPr>
              <a:t>1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B2809C68-E8AD-3547-B20C-31E9BA5226AB}"/>
              </a:ext>
            </a:extLst>
          </p:cNvPr>
          <p:cNvSpPr txBox="1"/>
          <p:nvPr/>
        </p:nvSpPr>
        <p:spPr>
          <a:xfrm>
            <a:off x="6477000" y="1911350"/>
            <a:ext cx="1968500" cy="1714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90" b="1">
                <a:solidFill>
                  <a:srgbClr val="092A63"/>
                </a:solidFill>
              </a:rPr>
              <a:t>BILLET / PERSONNEL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4929AC4C-7F60-3846-AE2C-4E5E69F56387}"/>
              </a:ext>
            </a:extLst>
          </p:cNvPr>
          <p:cNvSpPr txBox="1"/>
          <p:nvPr/>
        </p:nvSpPr>
        <p:spPr>
          <a:xfrm>
            <a:off x="8521700" y="1911350"/>
            <a:ext cx="1930400" cy="1714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90" b="1">
                <a:solidFill>
                  <a:srgbClr val="092A63"/>
                </a:solidFill>
              </a:rPr>
              <a:t>STATUS / NEXT ACTION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34CC9749-1EB6-084B-9C27-B3076E5E02EE}"/>
              </a:ext>
            </a:extLst>
          </p:cNvPr>
          <p:cNvSpPr txBox="1"/>
          <p:nvPr/>
        </p:nvSpPr>
        <p:spPr>
          <a:xfrm>
            <a:off x="10553700" y="1911350"/>
            <a:ext cx="1181100" cy="1714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90" b="1">
                <a:solidFill>
                  <a:srgbClr val="092A63"/>
                </a:solidFill>
              </a:rPr>
              <a:t>PRD / EAOS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EF0E50C8-3A87-F445-AAA1-377B598E22D5}"/>
              </a:ext>
            </a:extLst>
          </p:cNvPr>
          <p:cNvSpPr/>
          <p:nvPr/>
        </p:nvSpPr>
        <p:spPr>
          <a:xfrm>
            <a:off x="6388100" y="2101850"/>
            <a:ext cx="5435600" cy="8255"/>
          </a:xfrm>
          <a:prstGeom prst="rect">
            <a:avLst/>
          </a:prstGeom>
          <a:solidFill>
            <a:srgbClr val="93A0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79968400-3299-0B48-9486-196B53FB8259}"/>
              </a:ext>
            </a:extLst>
          </p:cNvPr>
          <p:cNvSpPr/>
          <p:nvPr/>
        </p:nvSpPr>
        <p:spPr>
          <a:xfrm>
            <a:off x="6388100" y="2209800"/>
            <a:ext cx="5435600" cy="327025"/>
          </a:xfrm>
          <a:prstGeom prst="rect">
            <a:avLst/>
          </a:prstGeom>
          <a:solidFill>
            <a:srgbClr val="F5F8FC"/>
          </a:solidFill>
          <a:ln w="6350" cap="flat" cmpd="sng" algn="ctr">
            <a:solidFill>
              <a:srgbClr val="D3DA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83679747-A63D-B949-87F6-81C6428651AF}"/>
              </a:ext>
            </a:extLst>
          </p:cNvPr>
          <p:cNvSpPr/>
          <p:nvPr/>
        </p:nvSpPr>
        <p:spPr>
          <a:xfrm>
            <a:off x="6578600" y="2324100"/>
            <a:ext cx="107950" cy="107950"/>
          </a:xfrm>
          <a:prstGeom prst="rect">
            <a:avLst/>
          </a:prstGeom>
          <a:solidFill>
            <a:srgbClr val="FFFFFF"/>
          </a:solidFill>
          <a:ln w="11430" cap="flat" cmpd="sng" algn="ctr">
            <a:solidFill>
              <a:srgbClr val="092A6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9" name="mir_manpower_row1_name">
            <a:extLst>
              <a:ext uri="{FF2B5EF4-FFF2-40B4-BE49-F238E27FC236}">
                <a16:creationId xmlns:a16="http://schemas.microsoft.com/office/drawing/2014/main" id="{D8F5C21D-239E-4C45-AB7C-3E4C03C4B7AE}"/>
              </a:ext>
            </a:extLst>
          </p:cNvPr>
          <p:cNvSpPr txBox="1"/>
          <p:nvPr/>
        </p:nvSpPr>
        <p:spPr>
          <a:xfrm>
            <a:off x="6794500" y="2273300"/>
            <a:ext cx="797013" cy="215444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800" b="1" dirty="0">
                <a:solidFill>
                  <a:srgbClr val="061B44"/>
                </a:solidFill>
              </a:rPr>
              <a:t/>
            </a:r>
          </a:p>
        </p:txBody>
      </p:sp>
      <p:sp>
        <p:nvSpPr>
          <p:cNvPr id="160" name="mir_manpower_row1_title">
            <a:extLst>
              <a:ext uri="{FF2B5EF4-FFF2-40B4-BE49-F238E27FC236}">
                <a16:creationId xmlns:a16="http://schemas.microsoft.com/office/drawing/2014/main" id="{6B16604F-4879-B441-9EED-F7625FD27CC0}"/>
              </a:ext>
            </a:extLst>
          </p:cNvPr>
          <p:cNvSpPr txBox="1"/>
          <p:nvPr/>
        </p:nvSpPr>
        <p:spPr>
          <a:xfrm>
            <a:off x="6794500" y="2402840"/>
            <a:ext cx="1676400" cy="110489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580" b="1">
                <a:solidFill>
                  <a:srgbClr val="5B6778"/>
                </a:solidFill>
              </a:rPr>
              <a:t/>
            </a:r>
          </a:p>
        </p:txBody>
      </p:sp>
      <p:sp>
        <p:nvSpPr>
          <p:cNvPr id="161" name="mir_manpower_row1_role">
            <a:extLst>
              <a:ext uri="{FF2B5EF4-FFF2-40B4-BE49-F238E27FC236}">
                <a16:creationId xmlns:a16="http://schemas.microsoft.com/office/drawing/2014/main" id="{5C2C2286-0A39-3847-AB7B-06958505F5BE}"/>
              </a:ext>
            </a:extLst>
          </p:cNvPr>
          <p:cNvSpPr txBox="1"/>
          <p:nvPr/>
        </p:nvSpPr>
        <p:spPr>
          <a:xfrm>
            <a:off x="8521700" y="2288540"/>
            <a:ext cx="1905000" cy="20005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00" b="1" dirty="0">
                <a:solidFill>
                  <a:srgbClr val="061B44"/>
                </a:solidFill>
              </a:rPr>
              <a:t/>
            </a:r>
          </a:p>
        </p:txBody>
      </p:sp>
      <p:sp>
        <p:nvSpPr>
          <p:cNvPr id="162" name="mir_manpower_row1_date">
            <a:extLst>
              <a:ext uri="{FF2B5EF4-FFF2-40B4-BE49-F238E27FC236}">
                <a16:creationId xmlns:a16="http://schemas.microsoft.com/office/drawing/2014/main" id="{047BBDEC-6A22-274B-8B1A-BF0555E26356}"/>
              </a:ext>
            </a:extLst>
          </p:cNvPr>
          <p:cNvSpPr txBox="1"/>
          <p:nvPr/>
        </p:nvSpPr>
        <p:spPr>
          <a:xfrm>
            <a:off x="10553700" y="2288540"/>
            <a:ext cx="1143000" cy="18415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spAutoFit/>
          </a:bodyPr>
          <a:lstStyle/>
          <a:p>
            <a:pPr algn="l"/>
            <a:r>
              <a:rPr lang="en-US" sz="710" b="1" dirty="0">
                <a:solidFill>
                  <a:srgbClr val="5B6778"/>
                </a:solidFill>
              </a:rPr>
              <a:t/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E3385C8F-34DB-BA44-AF27-AEEE84A79250}"/>
              </a:ext>
            </a:extLst>
          </p:cNvPr>
          <p:cNvSpPr/>
          <p:nvPr/>
        </p:nvSpPr>
        <p:spPr>
          <a:xfrm>
            <a:off x="6388100" y="2552700"/>
            <a:ext cx="5435600" cy="327025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D3DA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820DF7BA-028B-4C4D-8FBA-C41905191FBC}"/>
              </a:ext>
            </a:extLst>
          </p:cNvPr>
          <p:cNvSpPr/>
          <p:nvPr/>
        </p:nvSpPr>
        <p:spPr>
          <a:xfrm>
            <a:off x="6578600" y="2667000"/>
            <a:ext cx="107950" cy="107950"/>
          </a:xfrm>
          <a:prstGeom prst="rect">
            <a:avLst/>
          </a:prstGeom>
          <a:solidFill>
            <a:srgbClr val="FFFFFF"/>
          </a:solidFill>
          <a:ln w="11430" cap="flat" cmpd="sng" algn="ctr">
            <a:solidFill>
              <a:srgbClr val="092A6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5" name="mir_manpower_row2_name">
            <a:extLst>
              <a:ext uri="{FF2B5EF4-FFF2-40B4-BE49-F238E27FC236}">
                <a16:creationId xmlns:a16="http://schemas.microsoft.com/office/drawing/2014/main" id="{EDE813E6-79EC-B24D-91FB-3E8DA8C6CC5E}"/>
              </a:ext>
            </a:extLst>
          </p:cNvPr>
          <p:cNvSpPr txBox="1"/>
          <p:nvPr/>
        </p:nvSpPr>
        <p:spPr>
          <a:xfrm>
            <a:off x="6794500" y="2616200"/>
            <a:ext cx="856325" cy="215444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800" b="1" dirty="0">
                <a:solidFill>
                  <a:srgbClr val="061B44"/>
                </a:solidFill>
              </a:rPr>
              <a:t/>
            </a:r>
          </a:p>
        </p:txBody>
      </p:sp>
      <p:sp>
        <p:nvSpPr>
          <p:cNvPr id="166" name="mir_manpower_row2_title">
            <a:extLst>
              <a:ext uri="{FF2B5EF4-FFF2-40B4-BE49-F238E27FC236}">
                <a16:creationId xmlns:a16="http://schemas.microsoft.com/office/drawing/2014/main" id="{1080A8E8-9115-554D-8FA7-F844966C4B74}"/>
              </a:ext>
            </a:extLst>
          </p:cNvPr>
          <p:cNvSpPr txBox="1"/>
          <p:nvPr/>
        </p:nvSpPr>
        <p:spPr>
          <a:xfrm>
            <a:off x="6794500" y="2745740"/>
            <a:ext cx="1676400" cy="110489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580" b="1">
                <a:solidFill>
                  <a:srgbClr val="5B6778"/>
                </a:solidFill>
              </a:rPr>
              <a:t/>
            </a:r>
          </a:p>
        </p:txBody>
      </p:sp>
      <p:sp>
        <p:nvSpPr>
          <p:cNvPr id="167" name="mir_manpower_row2_role">
            <a:extLst>
              <a:ext uri="{FF2B5EF4-FFF2-40B4-BE49-F238E27FC236}">
                <a16:creationId xmlns:a16="http://schemas.microsoft.com/office/drawing/2014/main" id="{17930A0E-231B-CF49-9C22-A7AC6A2620CE}"/>
              </a:ext>
            </a:extLst>
          </p:cNvPr>
          <p:cNvSpPr txBox="1"/>
          <p:nvPr/>
        </p:nvSpPr>
        <p:spPr>
          <a:xfrm>
            <a:off x="8521700" y="2631440"/>
            <a:ext cx="1905000" cy="20005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00" b="1" dirty="0">
                <a:solidFill>
                  <a:srgbClr val="061B44"/>
                </a:solidFill>
              </a:rPr>
              <a:t/>
            </a:r>
          </a:p>
        </p:txBody>
      </p:sp>
      <p:sp>
        <p:nvSpPr>
          <p:cNvPr id="168" name="mir_manpower_row2_date">
            <a:extLst>
              <a:ext uri="{FF2B5EF4-FFF2-40B4-BE49-F238E27FC236}">
                <a16:creationId xmlns:a16="http://schemas.microsoft.com/office/drawing/2014/main" id="{C177A58F-E68A-234B-AFB6-6522728E5E99}"/>
              </a:ext>
            </a:extLst>
          </p:cNvPr>
          <p:cNvSpPr txBox="1"/>
          <p:nvPr/>
        </p:nvSpPr>
        <p:spPr>
          <a:xfrm>
            <a:off x="10553700" y="2622718"/>
            <a:ext cx="478016" cy="201594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spAutoFit/>
          </a:bodyPr>
          <a:lstStyle/>
          <a:p>
            <a:pPr algn="l"/>
            <a:r>
              <a:rPr lang="en-US" sz="710" b="1" dirty="0">
                <a:solidFill>
                  <a:srgbClr val="5B6778"/>
                </a:solidFill>
              </a:rPr>
              <a:t/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55A8EBD7-68AD-7B44-A153-99880E671991}"/>
              </a:ext>
            </a:extLst>
          </p:cNvPr>
          <p:cNvSpPr/>
          <p:nvPr/>
        </p:nvSpPr>
        <p:spPr>
          <a:xfrm>
            <a:off x="6388100" y="2895600"/>
            <a:ext cx="5435600" cy="327025"/>
          </a:xfrm>
          <a:prstGeom prst="rect">
            <a:avLst/>
          </a:prstGeom>
          <a:solidFill>
            <a:srgbClr val="F5F8FC"/>
          </a:solidFill>
          <a:ln w="6350" cap="flat" cmpd="sng" algn="ctr">
            <a:solidFill>
              <a:srgbClr val="D3DA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BB0B738F-61C4-9E48-9923-7738479AA2A5}"/>
              </a:ext>
            </a:extLst>
          </p:cNvPr>
          <p:cNvSpPr/>
          <p:nvPr/>
        </p:nvSpPr>
        <p:spPr>
          <a:xfrm>
            <a:off x="6578600" y="3009900"/>
            <a:ext cx="107950" cy="107950"/>
          </a:xfrm>
          <a:prstGeom prst="rect">
            <a:avLst/>
          </a:prstGeom>
          <a:solidFill>
            <a:srgbClr val="FFFFFF"/>
          </a:solidFill>
          <a:ln w="11430" cap="flat" cmpd="sng" algn="ctr">
            <a:solidFill>
              <a:srgbClr val="092A6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1" name="mir_manpower_row3_name">
            <a:extLst>
              <a:ext uri="{FF2B5EF4-FFF2-40B4-BE49-F238E27FC236}">
                <a16:creationId xmlns:a16="http://schemas.microsoft.com/office/drawing/2014/main" id="{9768FAF5-9AFE-3341-A7E8-BBFF0F7B8772}"/>
              </a:ext>
            </a:extLst>
          </p:cNvPr>
          <p:cNvSpPr txBox="1"/>
          <p:nvPr/>
        </p:nvSpPr>
        <p:spPr>
          <a:xfrm>
            <a:off x="6794500" y="2959100"/>
            <a:ext cx="665567" cy="215444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800" b="1" dirty="0">
                <a:solidFill>
                  <a:srgbClr val="061B44"/>
                </a:solidFill>
              </a:rPr>
              <a:t/>
            </a:r>
          </a:p>
        </p:txBody>
      </p:sp>
      <p:sp>
        <p:nvSpPr>
          <p:cNvPr id="172" name="mir_manpower_row3_title">
            <a:extLst>
              <a:ext uri="{FF2B5EF4-FFF2-40B4-BE49-F238E27FC236}">
                <a16:creationId xmlns:a16="http://schemas.microsoft.com/office/drawing/2014/main" id="{9FD3B12B-83F3-8F4A-9F2B-DD09E627DC7E}"/>
              </a:ext>
            </a:extLst>
          </p:cNvPr>
          <p:cNvSpPr txBox="1"/>
          <p:nvPr/>
        </p:nvSpPr>
        <p:spPr>
          <a:xfrm>
            <a:off x="6794500" y="3088640"/>
            <a:ext cx="1676400" cy="110489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580" b="1" dirty="0">
                <a:solidFill>
                  <a:srgbClr val="5B6778"/>
                </a:solidFill>
              </a:rPr>
              <a:t/>
            </a:r>
          </a:p>
        </p:txBody>
      </p:sp>
      <p:sp>
        <p:nvSpPr>
          <p:cNvPr id="173" name="mir_manpower_row3_role">
            <a:extLst>
              <a:ext uri="{FF2B5EF4-FFF2-40B4-BE49-F238E27FC236}">
                <a16:creationId xmlns:a16="http://schemas.microsoft.com/office/drawing/2014/main" id="{EF65367B-19BD-9342-BBFC-6AD2C0D334AD}"/>
              </a:ext>
            </a:extLst>
          </p:cNvPr>
          <p:cNvSpPr txBox="1"/>
          <p:nvPr/>
        </p:nvSpPr>
        <p:spPr>
          <a:xfrm>
            <a:off x="8521700" y="2974340"/>
            <a:ext cx="1905000" cy="20005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00" b="1" dirty="0">
                <a:solidFill>
                  <a:srgbClr val="061B44"/>
                </a:solidFill>
              </a:rPr>
              <a:t/>
            </a:r>
          </a:p>
        </p:txBody>
      </p:sp>
      <p:sp>
        <p:nvSpPr>
          <p:cNvPr id="174" name="mir_manpower_row3_date">
            <a:extLst>
              <a:ext uri="{FF2B5EF4-FFF2-40B4-BE49-F238E27FC236}">
                <a16:creationId xmlns:a16="http://schemas.microsoft.com/office/drawing/2014/main" id="{0595AB74-19E5-7F4E-AD92-B392441C9643}"/>
              </a:ext>
            </a:extLst>
          </p:cNvPr>
          <p:cNvSpPr txBox="1"/>
          <p:nvPr/>
        </p:nvSpPr>
        <p:spPr>
          <a:xfrm>
            <a:off x="10553700" y="2974340"/>
            <a:ext cx="1143000" cy="18415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spAutoFit/>
          </a:bodyPr>
          <a:lstStyle/>
          <a:p>
            <a:pPr algn="l"/>
            <a:r>
              <a:rPr lang="en-US" sz="710" b="1" dirty="0">
                <a:solidFill>
                  <a:srgbClr val="5B6778"/>
                </a:solidFill>
              </a:rPr>
              <a:t/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C2CB56B9-CA09-E14A-8AB0-9EF57B0485F9}"/>
              </a:ext>
            </a:extLst>
          </p:cNvPr>
          <p:cNvSpPr/>
          <p:nvPr/>
        </p:nvSpPr>
        <p:spPr>
          <a:xfrm>
            <a:off x="6388100" y="3238500"/>
            <a:ext cx="5435600" cy="327025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D3DA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0A857449-CF58-2E4A-9F5F-233919B6D80E}"/>
              </a:ext>
            </a:extLst>
          </p:cNvPr>
          <p:cNvSpPr/>
          <p:nvPr/>
        </p:nvSpPr>
        <p:spPr>
          <a:xfrm>
            <a:off x="6578600" y="3352800"/>
            <a:ext cx="107950" cy="107950"/>
          </a:xfrm>
          <a:prstGeom prst="rect">
            <a:avLst/>
          </a:prstGeom>
          <a:solidFill>
            <a:srgbClr val="FFFFFF"/>
          </a:solidFill>
          <a:ln w="11430" cap="flat" cmpd="sng" algn="ctr">
            <a:solidFill>
              <a:srgbClr val="092A6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7" name="mir_manpower_row4_name">
            <a:extLst>
              <a:ext uri="{FF2B5EF4-FFF2-40B4-BE49-F238E27FC236}">
                <a16:creationId xmlns:a16="http://schemas.microsoft.com/office/drawing/2014/main" id="{F9374B8B-CC07-2947-8537-D38FC53BD7D8}"/>
              </a:ext>
            </a:extLst>
          </p:cNvPr>
          <p:cNvSpPr txBox="1"/>
          <p:nvPr/>
        </p:nvSpPr>
        <p:spPr>
          <a:xfrm>
            <a:off x="6794500" y="3302000"/>
            <a:ext cx="782587" cy="215444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800" b="1" dirty="0">
                <a:solidFill>
                  <a:srgbClr val="061B44"/>
                </a:solidFill>
              </a:rPr>
              <a:t/>
            </a:r>
          </a:p>
        </p:txBody>
      </p:sp>
      <p:sp>
        <p:nvSpPr>
          <p:cNvPr id="178" name="mir_manpower_row4_title">
            <a:extLst>
              <a:ext uri="{FF2B5EF4-FFF2-40B4-BE49-F238E27FC236}">
                <a16:creationId xmlns:a16="http://schemas.microsoft.com/office/drawing/2014/main" id="{ACC20B30-276B-784F-8476-0426B8BF2AA6}"/>
              </a:ext>
            </a:extLst>
          </p:cNvPr>
          <p:cNvSpPr txBox="1"/>
          <p:nvPr/>
        </p:nvSpPr>
        <p:spPr>
          <a:xfrm>
            <a:off x="6794500" y="3431540"/>
            <a:ext cx="1676400" cy="110489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580" b="1">
                <a:solidFill>
                  <a:srgbClr val="5B6778"/>
                </a:solidFill>
              </a:rPr>
              <a:t/>
            </a:r>
          </a:p>
        </p:txBody>
      </p:sp>
      <p:sp>
        <p:nvSpPr>
          <p:cNvPr id="179" name="mir_manpower_row4_role">
            <a:extLst>
              <a:ext uri="{FF2B5EF4-FFF2-40B4-BE49-F238E27FC236}">
                <a16:creationId xmlns:a16="http://schemas.microsoft.com/office/drawing/2014/main" id="{01765735-E642-5349-B1AD-052ED15CDEA7}"/>
              </a:ext>
            </a:extLst>
          </p:cNvPr>
          <p:cNvSpPr txBox="1"/>
          <p:nvPr/>
        </p:nvSpPr>
        <p:spPr>
          <a:xfrm>
            <a:off x="8521700" y="3317240"/>
            <a:ext cx="1905000" cy="20005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00" b="1" dirty="0">
                <a:solidFill>
                  <a:srgbClr val="061B44"/>
                </a:solidFill>
              </a:rPr>
              <a:t/>
            </a:r>
          </a:p>
        </p:txBody>
      </p:sp>
      <p:sp>
        <p:nvSpPr>
          <p:cNvPr id="180" name="mir_manpower_row4_date">
            <a:extLst>
              <a:ext uri="{FF2B5EF4-FFF2-40B4-BE49-F238E27FC236}">
                <a16:creationId xmlns:a16="http://schemas.microsoft.com/office/drawing/2014/main" id="{1031A3D8-F625-BE4F-BE56-99184A37AD9D}"/>
              </a:ext>
            </a:extLst>
          </p:cNvPr>
          <p:cNvSpPr txBox="1"/>
          <p:nvPr/>
        </p:nvSpPr>
        <p:spPr>
          <a:xfrm>
            <a:off x="10553700" y="3308518"/>
            <a:ext cx="478016" cy="201594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spAutoFit/>
          </a:bodyPr>
          <a:lstStyle/>
          <a:p>
            <a:pPr algn="l"/>
            <a:r>
              <a:rPr lang="en-US" sz="710" b="1" dirty="0">
                <a:solidFill>
                  <a:srgbClr val="5B6778"/>
                </a:solidFill>
              </a:rPr>
              <a:t/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471B16C1-DB8A-4A43-AEB8-932F2F220F45}"/>
              </a:ext>
            </a:extLst>
          </p:cNvPr>
          <p:cNvSpPr/>
          <p:nvPr/>
        </p:nvSpPr>
        <p:spPr>
          <a:xfrm>
            <a:off x="6388100" y="3581400"/>
            <a:ext cx="5435600" cy="327025"/>
          </a:xfrm>
          <a:prstGeom prst="rect">
            <a:avLst/>
          </a:prstGeom>
          <a:solidFill>
            <a:srgbClr val="F5F8FC"/>
          </a:solidFill>
          <a:ln w="6350" cap="flat" cmpd="sng" algn="ctr">
            <a:solidFill>
              <a:srgbClr val="D3DA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6B04A621-CE48-8C49-9B5E-7E151EB2ED94}"/>
              </a:ext>
            </a:extLst>
          </p:cNvPr>
          <p:cNvSpPr/>
          <p:nvPr/>
        </p:nvSpPr>
        <p:spPr>
          <a:xfrm>
            <a:off x="6578600" y="3695700"/>
            <a:ext cx="107950" cy="107950"/>
          </a:xfrm>
          <a:prstGeom prst="rect">
            <a:avLst/>
          </a:prstGeom>
          <a:solidFill>
            <a:srgbClr val="FFFFFF"/>
          </a:solidFill>
          <a:ln w="11430" cap="flat" cmpd="sng" algn="ctr">
            <a:solidFill>
              <a:srgbClr val="092A6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3" name="mir_manpower_row5_name">
            <a:extLst>
              <a:ext uri="{FF2B5EF4-FFF2-40B4-BE49-F238E27FC236}">
                <a16:creationId xmlns:a16="http://schemas.microsoft.com/office/drawing/2014/main" id="{414F8F15-37ED-E547-8C87-652848BCF22D}"/>
              </a:ext>
            </a:extLst>
          </p:cNvPr>
          <p:cNvSpPr txBox="1"/>
          <p:nvPr/>
        </p:nvSpPr>
        <p:spPr>
          <a:xfrm>
            <a:off x="6794500" y="3644900"/>
            <a:ext cx="797013" cy="215444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800" b="1" dirty="0">
                <a:solidFill>
                  <a:srgbClr val="061B44"/>
                </a:solidFill>
              </a:rPr>
              <a:t/>
            </a:r>
          </a:p>
        </p:txBody>
      </p:sp>
      <p:sp>
        <p:nvSpPr>
          <p:cNvPr id="184" name="mir_manpower_row5_title">
            <a:extLst>
              <a:ext uri="{FF2B5EF4-FFF2-40B4-BE49-F238E27FC236}">
                <a16:creationId xmlns:a16="http://schemas.microsoft.com/office/drawing/2014/main" id="{4B86BD3A-9825-3C42-B09B-5E213AD1011D}"/>
              </a:ext>
            </a:extLst>
          </p:cNvPr>
          <p:cNvSpPr txBox="1"/>
          <p:nvPr/>
        </p:nvSpPr>
        <p:spPr>
          <a:xfrm>
            <a:off x="6794500" y="3774440"/>
            <a:ext cx="1676400" cy="110489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580" b="1">
                <a:solidFill>
                  <a:srgbClr val="5B6778"/>
                </a:solidFill>
              </a:rPr>
              <a:t/>
            </a:r>
          </a:p>
        </p:txBody>
      </p:sp>
      <p:sp>
        <p:nvSpPr>
          <p:cNvPr id="185" name="mir_manpower_row5_role">
            <a:extLst>
              <a:ext uri="{FF2B5EF4-FFF2-40B4-BE49-F238E27FC236}">
                <a16:creationId xmlns:a16="http://schemas.microsoft.com/office/drawing/2014/main" id="{413695CF-9CB4-9342-B65E-B26F4C5C0447}"/>
              </a:ext>
            </a:extLst>
          </p:cNvPr>
          <p:cNvSpPr txBox="1"/>
          <p:nvPr/>
        </p:nvSpPr>
        <p:spPr>
          <a:xfrm>
            <a:off x="8521700" y="3660140"/>
            <a:ext cx="1905000" cy="20005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00" b="1" dirty="0">
                <a:solidFill>
                  <a:srgbClr val="061B44"/>
                </a:solidFill>
              </a:rPr>
              <a:t/>
            </a:r>
          </a:p>
        </p:txBody>
      </p:sp>
      <p:sp>
        <p:nvSpPr>
          <p:cNvPr id="186" name="mir_manpower_row5_date">
            <a:extLst>
              <a:ext uri="{FF2B5EF4-FFF2-40B4-BE49-F238E27FC236}">
                <a16:creationId xmlns:a16="http://schemas.microsoft.com/office/drawing/2014/main" id="{4FB9FB10-0198-2049-BE21-4BD34B86F14E}"/>
              </a:ext>
            </a:extLst>
          </p:cNvPr>
          <p:cNvSpPr txBox="1"/>
          <p:nvPr/>
        </p:nvSpPr>
        <p:spPr>
          <a:xfrm>
            <a:off x="10553700" y="3651418"/>
            <a:ext cx="489236" cy="201594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spAutoFit/>
          </a:bodyPr>
          <a:lstStyle/>
          <a:p>
            <a:pPr algn="l"/>
            <a:r>
              <a:rPr lang="en-US" sz="710" b="1" dirty="0">
                <a:solidFill>
                  <a:srgbClr val="5B6778"/>
                </a:solidFill>
              </a:rPr>
              <a:t/>
            </a:r>
          </a:p>
        </p:txBody>
      </p:sp>
      <p:pic>
        <p:nvPicPr>
          <p:cNvPr id="190" name="Picture 189">
            <a:extLst>
              <a:ext uri="{FF2B5EF4-FFF2-40B4-BE49-F238E27FC236}">
                <a16:creationId xmlns:a16="http://schemas.microsoft.com/office/drawing/2014/main" id="{8E771427-1416-4137-8484-75CD32433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653" y="36508"/>
            <a:ext cx="799697" cy="803283"/>
          </a:xfrm>
          <a:prstGeom prst="rect">
            <a:avLst/>
          </a:prstGeom>
        </p:spPr>
      </p:pic>
      <p:pic>
        <p:nvPicPr>
          <p:cNvPr id="192" name="Picture 191" descr="A green circle with white text and a logo&#10;&#10;AI-generated content may be incorrect.">
            <a:extLst>
              <a:ext uri="{FF2B5EF4-FFF2-40B4-BE49-F238E27FC236}">
                <a16:creationId xmlns:a16="http://schemas.microsoft.com/office/drawing/2014/main" id="{650254B3-BA41-111A-3F50-9649AFF145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12" y="84455"/>
            <a:ext cx="865188" cy="86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693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CA2C2D8-E56E-904D-A5C8-2CE9822EC3A4}"/>
              </a:ext>
            </a:extLst>
          </p:cNvPr>
          <p:cNvSpPr txBox="1"/>
          <p:nvPr/>
        </p:nvSpPr>
        <p:spPr>
          <a:xfrm>
            <a:off x="1238250" y="95250"/>
            <a:ext cx="9715500" cy="3429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700" b="1" dirty="0">
                <a:solidFill>
                  <a:srgbClr val="06245A"/>
                </a:solidFill>
                <a:latin typeface="Arial"/>
                <a:cs typeface="Arial"/>
              </a:rPr>
              <a:t>CREDO MCI WEST MONTHLY IMPACT REPORT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87D0604-8BAF-D44E-9159-3958850BD43D}"/>
              </a:ext>
            </a:extLst>
          </p:cNvPr>
          <p:cNvSpPr/>
          <p:nvPr/>
        </p:nvSpPr>
        <p:spPr>
          <a:xfrm>
            <a:off x="1123950" y="742950"/>
            <a:ext cx="9944100" cy="609600"/>
          </a:xfrm>
          <a:prstGeom prst="round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AD2F20-278C-0140-B2C2-FA16F232A083}"/>
              </a:ext>
            </a:extLst>
          </p:cNvPr>
          <p:cNvSpPr txBox="1"/>
          <p:nvPr/>
        </p:nvSpPr>
        <p:spPr>
          <a:xfrm>
            <a:off x="1619250" y="828675"/>
            <a:ext cx="8953500" cy="419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US" sz="1150" b="1">
                <a:solidFill>
                  <a:srgbClr val="FFFFFF"/>
                </a:solidFill>
                <a:latin typeface="Arial"/>
                <a:cs typeface="Arial"/>
              </a:rPr>
              <a:t>NOTES PAGE: Add amplifying context, decisions, risks, and follow-ups for each report section below.</a:t>
            </a:r>
            <a:endParaRPr lang="en-US" sz="115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27B666F-7DCF-F44C-916B-3653E15C21BB}"/>
              </a:ext>
            </a:extLst>
          </p:cNvPr>
          <p:cNvSpPr/>
          <p:nvPr/>
        </p:nvSpPr>
        <p:spPr>
          <a:xfrm>
            <a:off x="200025" y="1504950"/>
            <a:ext cx="5810250" cy="2552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B33FEE-1BE9-AB4B-A4C3-62D7B1DC257B}"/>
              </a:ext>
            </a:extLst>
          </p:cNvPr>
          <p:cNvSpPr/>
          <p:nvPr/>
        </p:nvSpPr>
        <p:spPr>
          <a:xfrm>
            <a:off x="200025" y="1504950"/>
            <a:ext cx="5810250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46B409-727F-7F41-9C2B-AF09F8850328}"/>
              </a:ext>
            </a:extLst>
          </p:cNvPr>
          <p:cNvSpPr txBox="1"/>
          <p:nvPr/>
        </p:nvSpPr>
        <p:spPr>
          <a:xfrm>
            <a:off x="257175" y="1552575"/>
            <a:ext cx="569595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Arial"/>
                <a:cs typeface="Arial"/>
              </a:rPr>
              <a:t>1. REACH + MISSION SUPPORT — NOTES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5D6F514-8C9B-7640-88EF-BEB8DD14E71B}"/>
              </a:ext>
            </a:extLst>
          </p:cNvPr>
          <p:cNvSpPr/>
          <p:nvPr/>
        </p:nvSpPr>
        <p:spPr>
          <a:xfrm>
            <a:off x="6162675" y="1504950"/>
            <a:ext cx="5838825" cy="2552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1FABAA-4C15-7E41-9EB2-E9F9E8864CB1}"/>
              </a:ext>
            </a:extLst>
          </p:cNvPr>
          <p:cNvSpPr/>
          <p:nvPr/>
        </p:nvSpPr>
        <p:spPr>
          <a:xfrm>
            <a:off x="6162675" y="1504950"/>
            <a:ext cx="5838825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BA8E34-4DEF-3240-9640-E79523ECAC66}"/>
              </a:ext>
            </a:extLst>
          </p:cNvPr>
          <p:cNvSpPr txBox="1"/>
          <p:nvPr/>
        </p:nvSpPr>
        <p:spPr>
          <a:xfrm>
            <a:off x="6219825" y="1552575"/>
            <a:ext cx="5724525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Arial"/>
                <a:cs typeface="Arial"/>
              </a:rPr>
              <a:t>2. MANPOWER / MANNING — NOTES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A75BFD8-6E73-9D40-BF03-B8A59BB6CED8}"/>
              </a:ext>
            </a:extLst>
          </p:cNvPr>
          <p:cNvSpPr/>
          <p:nvPr/>
        </p:nvSpPr>
        <p:spPr>
          <a:xfrm>
            <a:off x="200025" y="4095750"/>
            <a:ext cx="5810250" cy="241935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AD1279-E07F-8D46-9AAC-D5BAA3443F34}"/>
              </a:ext>
            </a:extLst>
          </p:cNvPr>
          <p:cNvSpPr/>
          <p:nvPr/>
        </p:nvSpPr>
        <p:spPr>
          <a:xfrm>
            <a:off x="200025" y="4095750"/>
            <a:ext cx="5810250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294CC9-02C4-F842-B5B9-E6F462D91B8D}"/>
              </a:ext>
            </a:extLst>
          </p:cNvPr>
          <p:cNvSpPr txBox="1"/>
          <p:nvPr/>
        </p:nvSpPr>
        <p:spPr>
          <a:xfrm>
            <a:off x="257175" y="4143375"/>
            <a:ext cx="569595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Arial"/>
                <a:cs typeface="Arial"/>
              </a:rPr>
              <a:t>3. READINESS OUTCOMES — NOTES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32ACC6D-BE9F-E840-B2B5-1409FB546A61}"/>
              </a:ext>
            </a:extLst>
          </p:cNvPr>
          <p:cNvSpPr/>
          <p:nvPr/>
        </p:nvSpPr>
        <p:spPr>
          <a:xfrm>
            <a:off x="6162675" y="4095750"/>
            <a:ext cx="5838825" cy="241935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C2C0E3F-5ED0-3D4D-8F75-82F77CD12386}"/>
              </a:ext>
            </a:extLst>
          </p:cNvPr>
          <p:cNvSpPr/>
          <p:nvPr/>
        </p:nvSpPr>
        <p:spPr>
          <a:xfrm>
            <a:off x="6162675" y="4095750"/>
            <a:ext cx="5838825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E8619F-EC34-A44A-8F9B-677F94ADAE9E}"/>
              </a:ext>
            </a:extLst>
          </p:cNvPr>
          <p:cNvSpPr txBox="1"/>
          <p:nvPr/>
        </p:nvSpPr>
        <p:spPr>
          <a:xfrm>
            <a:off x="6219825" y="4143375"/>
            <a:ext cx="5724525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Arial"/>
                <a:cs typeface="Arial"/>
              </a:rPr>
              <a:t>4. COMMAND HIGHLIGHTS — NOTES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7656EA6F-79E5-5F41-A492-A954992598CE}"/>
              </a:ext>
            </a:extLst>
          </p:cNvPr>
          <p:cNvSpPr/>
          <p:nvPr/>
        </p:nvSpPr>
        <p:spPr>
          <a:xfrm>
            <a:off x="152400" y="6734175"/>
            <a:ext cx="4171950" cy="95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AAAE2F22-5393-0741-B9BF-012974FFDF5E}"/>
              </a:ext>
            </a:extLst>
          </p:cNvPr>
          <p:cNvSpPr/>
          <p:nvPr/>
        </p:nvSpPr>
        <p:spPr>
          <a:xfrm>
            <a:off x="7677150" y="6734175"/>
            <a:ext cx="4362450" cy="95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6B5DB60-4784-8545-8366-24F0A2C72A66}"/>
              </a:ext>
            </a:extLst>
          </p:cNvPr>
          <p:cNvSpPr txBox="1"/>
          <p:nvPr/>
        </p:nvSpPr>
        <p:spPr>
          <a:xfrm>
            <a:off x="4495800" y="6677025"/>
            <a:ext cx="321945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77500" lnSpcReduction="20000"/>
          </a:bodyPr>
          <a:lstStyle/>
          <a:p>
            <a:pPr algn="l"/>
            <a:r>
              <a:rPr lang="en-US" sz="650" i="1">
                <a:solidFill>
                  <a:srgbClr val="0A2A63"/>
                </a:solidFill>
                <a:latin typeface="Arial"/>
                <a:cs typeface="Arial"/>
              </a:rPr>
              <a:t>Notes / amplification companion page</a:t>
            </a:r>
          </a:p>
        </p:txBody>
      </p:sp>
      <p:sp>
        <p:nvSpPr>
          <p:cNvPr id="7" name="mir_notes_month_label">
            <a:extLst>
              <a:ext uri="{FF2B5EF4-FFF2-40B4-BE49-F238E27FC236}">
                <a16:creationId xmlns:a16="http://schemas.microsoft.com/office/drawing/2014/main" id="{8BCB519E-51ED-1F40-85A5-87FE4AC60EDD}"/>
              </a:ext>
            </a:extLst>
          </p:cNvPr>
          <p:cNvSpPr txBox="1"/>
          <p:nvPr/>
        </p:nvSpPr>
        <p:spPr>
          <a:xfrm>
            <a:off x="4667250" y="466725"/>
            <a:ext cx="28575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 lnSpcReduction="10000"/>
          </a:bodyPr>
          <a:lstStyle/>
          <a:p>
            <a:pPr algn="l"/>
            <a:r>
              <a:rPr lang="en-US" sz="1100" b="1">
                <a:solidFill>
                  <a:srgbClr val="0A2A63"/>
                </a:solidFill>
                <a:latin typeface="Arial"/>
                <a:cs typeface="Arial"/>
              </a:rPr>
              <a:t>JUNE 2026 — NOTES / AMPLIFICATION</a:t>
            </a:r>
            <a:endParaRPr lang="en-US" sz="1100" b="1" dirty="0">
              <a:solidFill>
                <a:srgbClr val="0A2A63"/>
              </a:solidFill>
              <a:latin typeface="Arial"/>
              <a:cs typeface="Arial"/>
            </a:endParaRPr>
          </a:p>
        </p:txBody>
      </p:sp>
      <p:pic>
        <p:nvPicPr>
          <p:cNvPr id="190" name="Picture 189">
            <a:extLst>
              <a:ext uri="{FF2B5EF4-FFF2-40B4-BE49-F238E27FC236}">
                <a16:creationId xmlns:a16="http://schemas.microsoft.com/office/drawing/2014/main" id="{8E771427-1416-4137-8484-75CD32433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653" y="36508"/>
            <a:ext cx="799697" cy="803283"/>
          </a:xfrm>
          <a:prstGeom prst="rect">
            <a:avLst/>
          </a:prstGeom>
        </p:spPr>
      </p:pic>
      <p:pic>
        <p:nvPicPr>
          <p:cNvPr id="192" name="Picture 191" descr="A green circle with white text and a logo&#10;&#10;AI-generated content may be incorrect.">
            <a:extLst>
              <a:ext uri="{FF2B5EF4-FFF2-40B4-BE49-F238E27FC236}">
                <a16:creationId xmlns:a16="http://schemas.microsoft.com/office/drawing/2014/main" id="{650254B3-BA41-111A-3F50-9649AFF145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12" y="84455"/>
            <a:ext cx="865188" cy="8651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C8D8585-5A7F-1341-84C7-26F7C831F404}"/>
              </a:ext>
            </a:extLst>
          </p:cNvPr>
          <p:cNvSpPr txBox="1"/>
          <p:nvPr/>
        </p:nvSpPr>
        <p:spPr>
          <a:xfrm>
            <a:off x="431800" y="1955800"/>
            <a:ext cx="51816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50" b="1">
                <a:solidFill>
                  <a:srgbClr val="0A2A63"/>
                </a:solidFill>
              </a:rPr>
              <a:t>Reach / mission support notes</a:t>
            </a:r>
          </a:p>
        </p:txBody>
      </p:sp>
      <p:sp>
        <p:nvSpPr>
          <p:cNvPr id="5" name="mir_notes_reach">
            <a:extLst>
              <a:ext uri="{FF2B5EF4-FFF2-40B4-BE49-F238E27FC236}">
                <a16:creationId xmlns:a16="http://schemas.microsoft.com/office/drawing/2014/main" id="{87B5FB4A-FD33-8A4C-9A6E-AB6165847B01}"/>
              </a:ext>
            </a:extLst>
          </p:cNvPr>
          <p:cNvSpPr txBox="1"/>
          <p:nvPr/>
        </p:nvSpPr>
        <p:spPr>
          <a:xfrm>
            <a:off x="431800" y="2247900"/>
            <a:ext cx="51816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00">
                <a:solidFill>
                  <a:srgbClr val="43536A"/>
                </a:solidFill>
              </a:rPr>
              <a:t>Enter reach and mission support notes for this reporting period.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5B959AE-B55A-0F48-90D9-DD16C0265CE4}"/>
              </a:ext>
            </a:extLst>
          </p:cNvPr>
          <p:cNvSpPr/>
          <p:nvPr/>
        </p:nvSpPr>
        <p:spPr>
          <a:xfrm>
            <a:off x="431800" y="2997200"/>
            <a:ext cx="51816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AF3E2A-C58E-9740-99FA-DFD618AA4C9F}"/>
              </a:ext>
            </a:extLst>
          </p:cNvPr>
          <p:cNvSpPr/>
          <p:nvPr/>
        </p:nvSpPr>
        <p:spPr>
          <a:xfrm>
            <a:off x="431800" y="3352800"/>
            <a:ext cx="51816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06B9F37-6F14-B643-BEDD-DAAE69F4C4F2}"/>
              </a:ext>
            </a:extLst>
          </p:cNvPr>
          <p:cNvSpPr/>
          <p:nvPr/>
        </p:nvSpPr>
        <p:spPr>
          <a:xfrm>
            <a:off x="431800" y="3708400"/>
            <a:ext cx="51816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E1470AB-99FD-B740-8FF4-156578695666}"/>
              </a:ext>
            </a:extLst>
          </p:cNvPr>
          <p:cNvSpPr/>
          <p:nvPr/>
        </p:nvSpPr>
        <p:spPr>
          <a:xfrm>
            <a:off x="431800" y="4064000"/>
            <a:ext cx="51816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F15AAB1-3BBE-0F47-AD89-29262140D5F6}"/>
              </a:ext>
            </a:extLst>
          </p:cNvPr>
          <p:cNvSpPr txBox="1"/>
          <p:nvPr/>
        </p:nvSpPr>
        <p:spPr>
          <a:xfrm>
            <a:off x="6388100" y="1955800"/>
            <a:ext cx="52832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50" b="1">
                <a:solidFill>
                  <a:srgbClr val="0A2A63"/>
                </a:solidFill>
              </a:rPr>
              <a:t>Manpower / manning notes</a:t>
            </a:r>
          </a:p>
        </p:txBody>
      </p:sp>
      <p:sp>
        <p:nvSpPr>
          <p:cNvPr id="27" name="mir_notes_manpower">
            <a:extLst>
              <a:ext uri="{FF2B5EF4-FFF2-40B4-BE49-F238E27FC236}">
                <a16:creationId xmlns:a16="http://schemas.microsoft.com/office/drawing/2014/main" id="{5ED396B6-14CC-154F-A03B-7F8560D1D11E}"/>
              </a:ext>
            </a:extLst>
          </p:cNvPr>
          <p:cNvSpPr txBox="1"/>
          <p:nvPr/>
        </p:nvSpPr>
        <p:spPr>
          <a:xfrm>
            <a:off x="6388100" y="2247900"/>
            <a:ext cx="52832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00">
                <a:solidFill>
                  <a:srgbClr val="43536A"/>
                </a:solidFill>
              </a:rPr>
              <a:t>Enter manpower and manning notes for this reporting period.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E18BF36-662F-8448-AC30-7D14965D3FB3}"/>
              </a:ext>
            </a:extLst>
          </p:cNvPr>
          <p:cNvSpPr/>
          <p:nvPr/>
        </p:nvSpPr>
        <p:spPr>
          <a:xfrm>
            <a:off x="6388100" y="2997200"/>
            <a:ext cx="52832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C52D83-9B96-D340-A095-9283E5BE7589}"/>
              </a:ext>
            </a:extLst>
          </p:cNvPr>
          <p:cNvSpPr/>
          <p:nvPr/>
        </p:nvSpPr>
        <p:spPr>
          <a:xfrm>
            <a:off x="6388100" y="3352800"/>
            <a:ext cx="52832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14A612A-25FE-BC41-AF33-412B08014080}"/>
              </a:ext>
            </a:extLst>
          </p:cNvPr>
          <p:cNvSpPr/>
          <p:nvPr/>
        </p:nvSpPr>
        <p:spPr>
          <a:xfrm>
            <a:off x="6388100" y="3708400"/>
            <a:ext cx="52832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CCCB280-D0B8-C447-93CD-F1669488EF8B}"/>
              </a:ext>
            </a:extLst>
          </p:cNvPr>
          <p:cNvSpPr/>
          <p:nvPr/>
        </p:nvSpPr>
        <p:spPr>
          <a:xfrm>
            <a:off x="6388100" y="4064000"/>
            <a:ext cx="52832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B9A08CF-F5D4-A440-8C38-C192A3EB2E73}"/>
              </a:ext>
            </a:extLst>
          </p:cNvPr>
          <p:cNvSpPr txBox="1"/>
          <p:nvPr/>
        </p:nvSpPr>
        <p:spPr>
          <a:xfrm>
            <a:off x="482600" y="4521200"/>
            <a:ext cx="5207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50" b="1">
                <a:solidFill>
                  <a:srgbClr val="0A2A63"/>
                </a:solidFill>
              </a:rPr>
              <a:t>Readiness outcomes notes</a:t>
            </a:r>
          </a:p>
        </p:txBody>
      </p:sp>
      <p:sp>
        <p:nvSpPr>
          <p:cNvPr id="33" name="mir_notes_readiness">
            <a:extLst>
              <a:ext uri="{FF2B5EF4-FFF2-40B4-BE49-F238E27FC236}">
                <a16:creationId xmlns:a16="http://schemas.microsoft.com/office/drawing/2014/main" id="{DF549476-EB29-F94C-8A7B-AE15D9329C94}"/>
              </a:ext>
            </a:extLst>
          </p:cNvPr>
          <p:cNvSpPr txBox="1"/>
          <p:nvPr/>
        </p:nvSpPr>
        <p:spPr>
          <a:xfrm>
            <a:off x="482600" y="4800600"/>
            <a:ext cx="5207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80">
                <a:solidFill>
                  <a:srgbClr val="43536A"/>
                </a:solidFill>
              </a:rPr>
              <a:t>Enter readiness outcomes notes for this reporting period.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29826D6-7183-AD42-BBBF-46D93741AE6B}"/>
              </a:ext>
            </a:extLst>
          </p:cNvPr>
          <p:cNvSpPr/>
          <p:nvPr/>
        </p:nvSpPr>
        <p:spPr>
          <a:xfrm>
            <a:off x="482600" y="5435600"/>
            <a:ext cx="52070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05507C1-D212-F940-924D-DA7979FC1CA4}"/>
              </a:ext>
            </a:extLst>
          </p:cNvPr>
          <p:cNvSpPr/>
          <p:nvPr/>
        </p:nvSpPr>
        <p:spPr>
          <a:xfrm>
            <a:off x="482600" y="5778500"/>
            <a:ext cx="52070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0674F86-CCD7-6740-9EDD-A4C815D353FF}"/>
              </a:ext>
            </a:extLst>
          </p:cNvPr>
          <p:cNvSpPr/>
          <p:nvPr/>
        </p:nvSpPr>
        <p:spPr>
          <a:xfrm>
            <a:off x="482600" y="6121400"/>
            <a:ext cx="52070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96F7389-6FC2-2845-83FC-DC3BE766F6E4}"/>
              </a:ext>
            </a:extLst>
          </p:cNvPr>
          <p:cNvSpPr/>
          <p:nvPr/>
        </p:nvSpPr>
        <p:spPr>
          <a:xfrm>
            <a:off x="482600" y="6464300"/>
            <a:ext cx="52070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191E711-B77E-D14C-9CFE-46901084871B}"/>
              </a:ext>
            </a:extLst>
          </p:cNvPr>
          <p:cNvSpPr txBox="1"/>
          <p:nvPr/>
        </p:nvSpPr>
        <p:spPr>
          <a:xfrm>
            <a:off x="6388100" y="4521200"/>
            <a:ext cx="52578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50" b="1">
                <a:solidFill>
                  <a:srgbClr val="0A2A63"/>
                </a:solidFill>
              </a:rPr>
              <a:t>Command highlights notes</a:t>
            </a:r>
          </a:p>
        </p:txBody>
      </p:sp>
      <p:sp>
        <p:nvSpPr>
          <p:cNvPr id="39" name="mir_notes_command_highlights">
            <a:extLst>
              <a:ext uri="{FF2B5EF4-FFF2-40B4-BE49-F238E27FC236}">
                <a16:creationId xmlns:a16="http://schemas.microsoft.com/office/drawing/2014/main" id="{3F818B15-7829-1B45-948E-B40133F07C10}"/>
              </a:ext>
            </a:extLst>
          </p:cNvPr>
          <p:cNvSpPr txBox="1"/>
          <p:nvPr/>
        </p:nvSpPr>
        <p:spPr>
          <a:xfrm>
            <a:off x="6388100" y="4800600"/>
            <a:ext cx="52578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80">
                <a:solidFill>
                  <a:srgbClr val="43536A"/>
                </a:solidFill>
              </a:rPr>
              <a:t>Enter command highlights notes for this reporting period.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7F40701-6EAA-A746-9BF4-8262BA433A2E}"/>
              </a:ext>
            </a:extLst>
          </p:cNvPr>
          <p:cNvSpPr/>
          <p:nvPr/>
        </p:nvSpPr>
        <p:spPr>
          <a:xfrm>
            <a:off x="6388100" y="5435600"/>
            <a:ext cx="52578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CC1983D-1A7D-E844-95D9-B1E407C3EC9E}"/>
              </a:ext>
            </a:extLst>
          </p:cNvPr>
          <p:cNvSpPr/>
          <p:nvPr/>
        </p:nvSpPr>
        <p:spPr>
          <a:xfrm>
            <a:off x="6388100" y="5778500"/>
            <a:ext cx="52578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AEECD0E-F233-6946-BB64-AA03E8679939}"/>
              </a:ext>
            </a:extLst>
          </p:cNvPr>
          <p:cNvSpPr/>
          <p:nvPr/>
        </p:nvSpPr>
        <p:spPr>
          <a:xfrm>
            <a:off x="6388100" y="6121400"/>
            <a:ext cx="52578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F7A4A4F-C02A-704D-8B8C-5A94C8298689}"/>
              </a:ext>
            </a:extLst>
          </p:cNvPr>
          <p:cNvSpPr/>
          <p:nvPr/>
        </p:nvSpPr>
        <p:spPr>
          <a:xfrm>
            <a:off x="6388100" y="6464300"/>
            <a:ext cx="52578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670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AFCA9FB-24BD-D049-8F37-0D47AD932553}">
  <we:reference id="wa200010215" version="2.0.0.0" store="en-US" storeType="OMEX"/>
  <we:alternateReferences>
    <we:reference id="WA200010215" version="2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420</Words>
  <Application>Microsoft Macintosh PowerPoint</Application>
  <PresentationFormat>Widescreen</PresentationFormat>
  <Paragraphs>94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Brantley</dc:creator>
  <cp:lastModifiedBy>James Brantley</cp:lastModifiedBy>
  <cp:revision>3</cp:revision>
  <dcterms:created xsi:type="dcterms:W3CDTF">2026-06-20T04:58:58Z</dcterms:created>
  <dcterms:modified xsi:type="dcterms:W3CDTF">2026-06-23T19:17:45Z</dcterms:modified>
</cp:coreProperties>
</file>