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21"/>
  </p:normalViewPr>
  <p:slideViewPr>
    <p:cSldViewPr snapToGrid="0">
      <p:cViewPr>
        <p:scale>
          <a:sx n="126" d="100"/>
          <a:sy n="126" d="100"/>
        </p:scale>
        <p:origin x="168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D24F6-96C2-CF35-DB9B-FAD09AF4E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3CA7A-7D86-2A6A-1D5B-B05F39E11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98C94-D70D-5698-B723-C01D0E40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5DEB-8ECF-EB7F-0DF4-20D5BA70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35CB-2D64-5A48-E29F-7288B96BC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6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B864-F3A1-CE26-BDB8-87C7C3F8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2D41-5A98-1B75-0195-57AA8269A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2F72-9C73-156C-04BE-02743185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59085-2934-BEFA-8DC6-1B5F417F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DFFB4-1547-C5B3-DC92-495999A4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1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959E-0BD7-72FA-5F71-B30358D0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E1EB2-07E1-C39B-C11F-00134D51D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B1D2-8030-DE0E-C661-401FEA38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C13F7-C8B1-0D0B-298F-25EFC04F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ADA6E-AD48-56B8-AA75-2EAF1F0A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5F33-4F2F-D3AF-29EA-8BB703E1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D03C-5EC7-2295-C79F-274FD2519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4D9F0-458C-FCF1-A9D0-2D9D626FC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F9AD2-089A-51F7-28A4-D432DE68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D7148-BB6C-EB7B-00A2-BECF61CF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40F5-7508-03AC-5DC5-C7F41081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C460-9C6E-D9E5-72B7-1C783ED0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BFB61-0B41-7A65-EE8E-03847580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08AC3-B03A-20D0-74E5-34A2586C6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ECCF5-2A32-911F-7B75-62032E913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BE815-8E9F-73DF-37FE-060A8733C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DCD85-174A-2D2B-5E60-95CC4F53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EAFE6-44CB-4E2F-958B-6419E9B7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CFE25-3E38-EAEA-F38C-333DBB3C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0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337F-8DFB-25AF-48ED-47B2D7F5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FDE08-CC22-9276-583F-AF29A44D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40206-1A47-5BA9-8301-3E7A1128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3A2FA-A159-CB7F-9765-AD6BDE2C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CFECA-BF23-82CD-8894-282F8BCC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FB732-0437-7DF8-E338-4DB33144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37B69-8AF8-7E39-E516-70B4A482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5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8C78-C4C5-1CD4-7488-A293D4A2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25C6-F074-7A59-B950-4D09D7573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0BF84-B75C-29AA-AF17-0446D5017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55E33-16F4-A764-2C0A-AC9D7663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A78B-BEDA-CA9B-6EA5-D0D0C159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12065-34E1-F0B6-61CB-33E3E3C9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3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9F78-E810-9D63-E69C-2E03D13C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E8FBC-7DF0-BBBE-D5AB-5CC0135C7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47542-2E25-A5E8-5692-A6BE4ADED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52581-C4FA-CD13-B747-FABFE309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764A4-6781-AD68-217F-4C409AE3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27922-5891-F0BE-C41B-9F0156FB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0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E7C8-FEA2-28C1-E195-01B30F07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CDFF6-BEF7-5766-0B4C-F85C7F448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CDA3-A0E4-22F2-5AE7-BE7F98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B47D8-30BA-7ECD-82FF-DDBBE176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7D58-2BEE-CAA1-EEF8-A365E3EA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67798-679F-64A6-F5C8-629905BF6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13B6F-A622-B378-9EE4-D066F3EC4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391C-ECD8-F139-B64F-E51F99DB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6B2F-85A4-F52D-BD19-4FC53EF4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8196-53CA-9BF2-7E6A-B6CB8964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3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1DB36-0A77-3A2B-2B38-BB59E66D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9A5A0-7F3F-393B-381B-D467A59FA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2ABAD-7589-D103-F8AB-6AFABA4E0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1CDA4-1258-EB3E-EBC2-135093AEF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6C7A9-426B-7690-A342-59A948959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3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mir_bluf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BLUF: Enter bottom-line summary for this reporting period — commands supported, beneficiaries served, and mission impact.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1. REACH + MISSION SUPPORT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2. MANPOWER / MANNING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mir_readiness_section_header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3. READINESS OUTCOMES (FYTD)    n = __ assessments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mir_section4_header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4. COMMAND HIGHLIGHTS (MONTH)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82F948-0D90-E446-8829-911FC5FF1090}"/>
              </a:ext>
            </a:extLst>
          </p:cNvPr>
          <p:cNvSpPr/>
          <p:nvPr/>
        </p:nvSpPr>
        <p:spPr>
          <a:xfrm>
            <a:off x="390525" y="5019675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C0C24B2-1005-5943-B83D-DD89F2FBFE2B}"/>
              </a:ext>
            </a:extLst>
          </p:cNvPr>
          <p:cNvSpPr/>
          <p:nvPr/>
        </p:nvSpPr>
        <p:spPr>
          <a:xfrm>
            <a:off x="390525" y="5486400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3D17848-275E-9944-A066-4DB72C347E69}"/>
              </a:ext>
            </a:extLst>
          </p:cNvPr>
          <p:cNvSpPr/>
          <p:nvPr/>
        </p:nvSpPr>
        <p:spPr>
          <a:xfrm>
            <a:off x="523875" y="450532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1465B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1465B3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60" name="mir_readiness_percent_1">
            <a:extLst>
              <a:ext uri="{FF2B5EF4-FFF2-40B4-BE49-F238E27FC236}">
                <a16:creationId xmlns:a16="http://schemas.microsoft.com/office/drawing/2014/main" id="{956FDC8A-BE0E-F740-9641-D221EEDFCDD4}"/>
              </a:ext>
            </a:extLst>
          </p:cNvPr>
          <p:cNvSpPr txBox="1"/>
          <p:nvPr/>
        </p:nvSpPr>
        <p:spPr>
          <a:xfrm>
            <a:off x="1095375" y="448627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1465B3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F467C2E-1ECC-AE44-983A-EC015742178C}"/>
              </a:ext>
            </a:extLst>
          </p:cNvPr>
          <p:cNvSpPr/>
          <p:nvPr/>
        </p:nvSpPr>
        <p:spPr>
          <a:xfrm>
            <a:off x="2257425" y="450532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1E5D7B-93C0-3548-BF9F-CA8AEA9EA08A}"/>
              </a:ext>
            </a:extLst>
          </p:cNvPr>
          <p:cNvSpPr txBox="1"/>
          <p:nvPr/>
        </p:nvSpPr>
        <p:spPr>
          <a:xfrm>
            <a:off x="2524125" y="4446849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1465B3"/>
                </a:solidFill>
                <a:latin typeface="Arial"/>
                <a:cs typeface="Arial"/>
              </a:rPr>
              <a:t>Resilience Readiness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0FEAC4-C182-3445-A83B-5C25403E3DB2}"/>
              </a:ext>
            </a:extLst>
          </p:cNvPr>
          <p:cNvSpPr txBox="1"/>
          <p:nvPr/>
        </p:nvSpPr>
        <p:spPr>
          <a:xfrm>
            <a:off x="2533650" y="4637349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Increased ability to handle military life challenges.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55A8B32-CD88-3F43-ACEC-3C54A1D6C3F8}"/>
              </a:ext>
            </a:extLst>
          </p:cNvPr>
          <p:cNvSpPr/>
          <p:nvPr/>
        </p:nvSpPr>
        <p:spPr>
          <a:xfrm>
            <a:off x="523875" y="5029200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5D146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5D146F"/>
                </a:solidFill>
                <a:latin typeface="Arial"/>
                <a:cs typeface="Arial"/>
              </a:rPr>
              <a:t>●</a:t>
            </a:r>
          </a:p>
        </p:txBody>
      </p:sp>
      <p:sp>
        <p:nvSpPr>
          <p:cNvPr id="65" name="mir_readiness_percent_2">
            <a:extLst>
              <a:ext uri="{FF2B5EF4-FFF2-40B4-BE49-F238E27FC236}">
                <a16:creationId xmlns:a16="http://schemas.microsoft.com/office/drawing/2014/main" id="{AD045EE8-CE56-CE48-8636-1C3912F3823E}"/>
              </a:ext>
            </a:extLst>
          </p:cNvPr>
          <p:cNvSpPr txBox="1"/>
          <p:nvPr/>
        </p:nvSpPr>
        <p:spPr>
          <a:xfrm>
            <a:off x="1095375" y="5010150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5D146F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14B5FC-B3DC-D14C-B496-4D09BE63B43C}"/>
              </a:ext>
            </a:extLst>
          </p:cNvPr>
          <p:cNvSpPr/>
          <p:nvPr/>
        </p:nvSpPr>
        <p:spPr>
          <a:xfrm>
            <a:off x="2257425" y="5029200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597469-4F55-9241-9BE6-748A81AB30FB}"/>
              </a:ext>
            </a:extLst>
          </p:cNvPr>
          <p:cNvSpPr txBox="1"/>
          <p:nvPr/>
        </p:nvSpPr>
        <p:spPr>
          <a:xfrm>
            <a:off x="2533650" y="5029200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5D146F"/>
                </a:solidFill>
                <a:latin typeface="Arial"/>
                <a:cs typeface="Arial"/>
              </a:rPr>
              <a:t>Relational Readiness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E13CBC-9E0E-8345-849A-61CB8E69522B}"/>
              </a:ext>
            </a:extLst>
          </p:cNvPr>
          <p:cNvSpPr txBox="1"/>
          <p:nvPr/>
        </p:nvSpPr>
        <p:spPr>
          <a:xfrm>
            <a:off x="2533650" y="521970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>
                <a:solidFill>
                  <a:srgbClr val="0B1020"/>
                </a:solidFill>
                <a:latin typeface="Arial"/>
                <a:cs typeface="Arial"/>
              </a:rPr>
              <a:t>Stronger relationships and support networks.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10D34FC-5A61-3E4D-975B-3719E773754A}"/>
              </a:ext>
            </a:extLst>
          </p:cNvPr>
          <p:cNvSpPr/>
          <p:nvPr/>
        </p:nvSpPr>
        <p:spPr>
          <a:xfrm>
            <a:off x="523875" y="555307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CA85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CA8500"/>
                </a:solidFill>
                <a:latin typeface="Arial"/>
                <a:cs typeface="Arial"/>
              </a:rPr>
              <a:t>✦</a:t>
            </a:r>
          </a:p>
        </p:txBody>
      </p:sp>
      <p:sp>
        <p:nvSpPr>
          <p:cNvPr id="70" name="mir_readiness_percent_3">
            <a:extLst>
              <a:ext uri="{FF2B5EF4-FFF2-40B4-BE49-F238E27FC236}">
                <a16:creationId xmlns:a16="http://schemas.microsoft.com/office/drawing/2014/main" id="{1D2889FE-1CA4-7844-AC96-D855EB904E36}"/>
              </a:ext>
            </a:extLst>
          </p:cNvPr>
          <p:cNvSpPr txBox="1"/>
          <p:nvPr/>
        </p:nvSpPr>
        <p:spPr>
          <a:xfrm>
            <a:off x="1095375" y="553402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CA8500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AA74320-3044-5345-B480-3FEA7F6377C1}"/>
              </a:ext>
            </a:extLst>
          </p:cNvPr>
          <p:cNvSpPr/>
          <p:nvPr/>
        </p:nvSpPr>
        <p:spPr>
          <a:xfrm>
            <a:off x="2257425" y="555307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D0546B-2168-144A-BE70-91B7F49BDBE6}"/>
              </a:ext>
            </a:extLst>
          </p:cNvPr>
          <p:cNvSpPr txBox="1"/>
          <p:nvPr/>
        </p:nvSpPr>
        <p:spPr>
          <a:xfrm>
            <a:off x="2562225" y="5495081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 dirty="0">
                <a:solidFill>
                  <a:srgbClr val="CA8500"/>
                </a:solidFill>
                <a:latin typeface="Arial"/>
                <a:cs typeface="Arial"/>
              </a:rPr>
              <a:t>Spiritual Readiness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5B17CD-92DA-E441-BBF8-45320FF3CF0A}"/>
              </a:ext>
            </a:extLst>
          </p:cNvPr>
          <p:cNvSpPr txBox="1"/>
          <p:nvPr/>
        </p:nvSpPr>
        <p:spPr>
          <a:xfrm>
            <a:off x="2562225" y="569595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Greater reflection on values, beliefs, and purpose.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08708E9-63D1-324F-986A-21BCAEF34620}"/>
              </a:ext>
            </a:extLst>
          </p:cNvPr>
          <p:cNvSpPr/>
          <p:nvPr/>
        </p:nvSpPr>
        <p:spPr>
          <a:xfrm>
            <a:off x="371475" y="6076950"/>
            <a:ext cx="54673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BFAC3DC-AD0F-C04E-9428-AA1CFC65D373}"/>
              </a:ext>
            </a:extLst>
          </p:cNvPr>
          <p:cNvSpPr/>
          <p:nvPr/>
        </p:nvSpPr>
        <p:spPr>
          <a:xfrm>
            <a:off x="371475" y="6086475"/>
            <a:ext cx="5467350" cy="342900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8A37DA-5242-9D49-8ADE-D95DBD891333}"/>
              </a:ext>
            </a:extLst>
          </p:cNvPr>
          <p:cNvSpPr txBox="1"/>
          <p:nvPr/>
        </p:nvSpPr>
        <p:spPr>
          <a:xfrm>
            <a:off x="485775" y="6134100"/>
            <a:ext cx="52387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 i="1" dirty="0">
                <a:solidFill>
                  <a:srgbClr val="111827"/>
                </a:solidFill>
                <a:latin typeface="Arial"/>
                <a:cs typeface="Arial"/>
              </a:rPr>
              <a:t>Participants reported meaningful gains in key readiness areas.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2E835F1-9D9A-3A43-BC1C-FCD4733B64D8}"/>
              </a:ext>
            </a:extLst>
          </p:cNvPr>
          <p:cNvSpPr/>
          <p:nvPr/>
        </p:nvSpPr>
        <p:spPr>
          <a:xfrm>
            <a:off x="6248399" y="4505325"/>
            <a:ext cx="1781175" cy="989756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dirty="0"/>
          </a:p>
        </p:txBody>
      </p:sp>
      <p:sp>
        <p:nvSpPr>
          <p:cNvPr id="78" name="mir_photo_slot_1">
            <a:extLst>
              <a:ext uri="{FF2B5EF4-FFF2-40B4-BE49-F238E27FC236}">
                <a16:creationId xmlns:a16="http://schemas.microsoft.com/office/drawing/2014/main" id="{6B96B2DD-9BF8-9F40-AA26-AFA0E00EB42B}"/>
              </a:ext>
            </a:extLst>
          </p:cNvPr>
          <p:cNvSpPr txBox="1"/>
          <p:nvPr/>
        </p:nvSpPr>
        <p:spPr>
          <a:xfrm>
            <a:off x="631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1</a:t>
            </a:r>
          </a:p>
        </p:txBody>
      </p:sp>
      <p:sp>
        <p:nvSpPr>
          <p:cNvPr id="79" name="mir_photo_slot_1_title">
            <a:extLst>
              <a:ext uri="{FF2B5EF4-FFF2-40B4-BE49-F238E27FC236}">
                <a16:creationId xmlns:a16="http://schemas.microsoft.com/office/drawing/2014/main" id="{111FF044-BC7B-9240-A33F-ED4AEB21D036}"/>
              </a:ext>
            </a:extLst>
          </p:cNvPr>
          <p:cNvSpPr txBox="1"/>
          <p:nvPr/>
        </p:nvSpPr>
        <p:spPr>
          <a:xfrm>
            <a:off x="631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5D146F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0" name="mir_photo_slot_1_caption">
            <a:extLst>
              <a:ext uri="{FF2B5EF4-FFF2-40B4-BE49-F238E27FC236}">
                <a16:creationId xmlns:a16="http://schemas.microsoft.com/office/drawing/2014/main" id="{2C8EC7D2-3A78-454E-B827-F1F84D0C9892}"/>
              </a:ext>
            </a:extLst>
          </p:cNvPr>
          <p:cNvSpPr txBox="1"/>
          <p:nvPr/>
        </p:nvSpPr>
        <p:spPr>
          <a:xfrm>
            <a:off x="631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1.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27AFF73-2FFA-5645-942E-8F415A629D7C}"/>
              </a:ext>
            </a:extLst>
          </p:cNvPr>
          <p:cNvSpPr/>
          <p:nvPr/>
        </p:nvSpPr>
        <p:spPr>
          <a:xfrm>
            <a:off x="8153400" y="4504902"/>
            <a:ext cx="1809750" cy="989755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2" name="mir_photo_slot_2">
            <a:extLst>
              <a:ext uri="{FF2B5EF4-FFF2-40B4-BE49-F238E27FC236}">
                <a16:creationId xmlns:a16="http://schemas.microsoft.com/office/drawing/2014/main" id="{15D397DB-2ACA-F046-A0C1-B2185962D670}"/>
              </a:ext>
            </a:extLst>
          </p:cNvPr>
          <p:cNvSpPr txBox="1"/>
          <p:nvPr/>
        </p:nvSpPr>
        <p:spPr>
          <a:xfrm>
            <a:off x="8220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2</a:t>
            </a:r>
          </a:p>
        </p:txBody>
      </p:sp>
      <p:sp>
        <p:nvSpPr>
          <p:cNvPr id="83" name="mir_photo_slot_2_title">
            <a:extLst>
              <a:ext uri="{FF2B5EF4-FFF2-40B4-BE49-F238E27FC236}">
                <a16:creationId xmlns:a16="http://schemas.microsoft.com/office/drawing/2014/main" id="{D829E633-DE79-6141-B427-EAB473535927}"/>
              </a:ext>
            </a:extLst>
          </p:cNvPr>
          <p:cNvSpPr txBox="1"/>
          <p:nvPr/>
        </p:nvSpPr>
        <p:spPr>
          <a:xfrm>
            <a:off x="8220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34752B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4" name="mir_photo_slot_2_caption">
            <a:extLst>
              <a:ext uri="{FF2B5EF4-FFF2-40B4-BE49-F238E27FC236}">
                <a16:creationId xmlns:a16="http://schemas.microsoft.com/office/drawing/2014/main" id="{08EA3C0A-D11A-C544-A71C-D9FED2DD7CF0}"/>
              </a:ext>
            </a:extLst>
          </p:cNvPr>
          <p:cNvSpPr txBox="1"/>
          <p:nvPr/>
        </p:nvSpPr>
        <p:spPr>
          <a:xfrm>
            <a:off x="8220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2.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3FB7B8-954E-C24C-BE4A-44B06284D003}"/>
              </a:ext>
            </a:extLst>
          </p:cNvPr>
          <p:cNvSpPr/>
          <p:nvPr/>
        </p:nvSpPr>
        <p:spPr>
          <a:xfrm>
            <a:off x="10086975" y="4503047"/>
            <a:ext cx="1781174" cy="989754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6" name="mir_photo_slot_3">
            <a:extLst>
              <a:ext uri="{FF2B5EF4-FFF2-40B4-BE49-F238E27FC236}">
                <a16:creationId xmlns:a16="http://schemas.microsoft.com/office/drawing/2014/main" id="{E9F4ADCB-5801-7549-BB8D-16AF6778AFB3}"/>
              </a:ext>
            </a:extLst>
          </p:cNvPr>
          <p:cNvSpPr txBox="1"/>
          <p:nvPr/>
        </p:nvSpPr>
        <p:spPr>
          <a:xfrm>
            <a:off x="1012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3</a:t>
            </a:r>
          </a:p>
        </p:txBody>
      </p:sp>
      <p:sp>
        <p:nvSpPr>
          <p:cNvPr id="87" name="mir_photo_slot_3_title">
            <a:extLst>
              <a:ext uri="{FF2B5EF4-FFF2-40B4-BE49-F238E27FC236}">
                <a16:creationId xmlns:a16="http://schemas.microsoft.com/office/drawing/2014/main" id="{C0011D41-397F-1D4E-BDA8-FEFB6E2FD457}"/>
              </a:ext>
            </a:extLst>
          </p:cNvPr>
          <p:cNvSpPr txBox="1"/>
          <p:nvPr/>
        </p:nvSpPr>
        <p:spPr>
          <a:xfrm>
            <a:off x="1012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19788A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8" name="mir_photo_slot_3_caption">
            <a:extLst>
              <a:ext uri="{FF2B5EF4-FFF2-40B4-BE49-F238E27FC236}">
                <a16:creationId xmlns:a16="http://schemas.microsoft.com/office/drawing/2014/main" id="{EE8F53B2-43E4-E04F-98FD-789E050AC703}"/>
              </a:ext>
            </a:extLst>
          </p:cNvPr>
          <p:cNvSpPr txBox="1"/>
          <p:nvPr/>
        </p:nvSpPr>
        <p:spPr>
          <a:xfrm>
            <a:off x="1012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3.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DEFF5C9-87CA-E04F-A437-D5E763AE4E35}"/>
              </a:ext>
            </a:extLst>
          </p:cNvPr>
          <p:cNvSpPr/>
          <p:nvPr/>
        </p:nvSpPr>
        <p:spPr>
          <a:xfrm>
            <a:off x="6334125" y="6124575"/>
            <a:ext cx="5495925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383233F-939E-774A-8FA2-1AEA88D64A75}"/>
              </a:ext>
            </a:extLst>
          </p:cNvPr>
          <p:cNvSpPr/>
          <p:nvPr/>
        </p:nvSpPr>
        <p:spPr>
          <a:xfrm>
            <a:off x="6334125" y="6134100"/>
            <a:ext cx="5495925" cy="314325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E62DAA2-1BC3-5546-B9C9-19E10DAEEC39}"/>
              </a:ext>
            </a:extLst>
          </p:cNvPr>
          <p:cNvSpPr txBox="1"/>
          <p:nvPr/>
        </p:nvSpPr>
        <p:spPr>
          <a:xfrm>
            <a:off x="6572250" y="6200775"/>
            <a:ext cx="5019675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 b="1" i="1">
                <a:solidFill>
                  <a:srgbClr val="111827"/>
                </a:solidFill>
                <a:latin typeface="Arial"/>
                <a:cs typeface="Arial"/>
              </a:rPr>
              <a:t>Commands are applying skills that strengthen people and readiness.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50" i="1">
                <a:solidFill>
                  <a:srgbClr val="06245A"/>
                </a:solidFill>
                <a:latin typeface="Arial"/>
                <a:cs typeface="Arial"/>
              </a:rPr>
              <a:t>Source: CREDO Impact Tracker &amp; Post-Event Evaluations</a:t>
            </a:r>
          </a:p>
        </p:txBody>
      </p:sp>
      <p:sp>
        <p:nvSpPr>
          <p:cNvPr id="7" name="mir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50" b="1" dirty="0">
                <a:solidFill>
                  <a:srgbClr val="06245A"/>
                </a:solidFill>
                <a:latin typeface="Arial"/>
                <a:cs typeface="Arial"/>
              </a:rPr>
              <a:t>JUNE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495925-12D2-094C-A0E2-CC42A8D776B8}"/>
              </a:ext>
            </a:extLst>
          </p:cNvPr>
          <p:cNvSpPr txBox="1"/>
          <p:nvPr/>
        </p:nvSpPr>
        <p:spPr>
          <a:xfrm>
            <a:off x="400050" y="1924050"/>
            <a:ext cx="188595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MONTH REACH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07016-A6EB-B949-B0FA-54C54C376BC4}"/>
              </a:ext>
            </a:extLst>
          </p:cNvPr>
          <p:cNvSpPr txBox="1"/>
          <p:nvPr/>
        </p:nvSpPr>
        <p:spPr>
          <a:xfrm>
            <a:off x="3124200" y="1924050"/>
            <a:ext cx="21717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FYTD MISSION SUPPORT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C46E5B6-290C-CB40-B2D0-EBBF118B7D1A}"/>
              </a:ext>
            </a:extLst>
          </p:cNvPr>
          <p:cNvSpPr/>
          <p:nvPr/>
        </p:nvSpPr>
        <p:spPr>
          <a:xfrm>
            <a:off x="2914650" y="1933575"/>
            <a:ext cx="9525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A1173CD-74FE-C34C-8A57-38497569AE95}"/>
              </a:ext>
            </a:extLst>
          </p:cNvPr>
          <p:cNvSpPr/>
          <p:nvPr/>
        </p:nvSpPr>
        <p:spPr>
          <a:xfrm>
            <a:off x="2914650" y="1924050"/>
            <a:ext cx="9525" cy="1466850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mir_month_reach_commands">
            <a:extLst>
              <a:ext uri="{FF2B5EF4-FFF2-40B4-BE49-F238E27FC236}">
                <a16:creationId xmlns:a16="http://schemas.microsoft.com/office/drawing/2014/main" id="{1AA6B27F-ACE9-6F46-B5C9-782E5C73A5C2}"/>
              </a:ext>
            </a:extLst>
          </p:cNvPr>
          <p:cNvSpPr/>
          <p:nvPr/>
        </p:nvSpPr>
        <p:spPr>
          <a:xfrm>
            <a:off x="409575" y="220980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F6D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F6DB8"/>
                </a:solidFill>
              </a:rPr>
              <a:t>12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E2D459F-C8E6-7E44-AACF-58D9838F2AA8}"/>
              </a:ext>
            </a:extLst>
          </p:cNvPr>
          <p:cNvSpPr txBox="1"/>
          <p:nvPr/>
        </p:nvSpPr>
        <p:spPr>
          <a:xfrm>
            <a:off x="914400" y="221932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Commands supported</a:t>
            </a:r>
          </a:p>
        </p:txBody>
      </p:sp>
      <p:sp>
        <p:nvSpPr>
          <p:cNvPr id="100" name="mir_month_reach_beneficiaries">
            <a:extLst>
              <a:ext uri="{FF2B5EF4-FFF2-40B4-BE49-F238E27FC236}">
                <a16:creationId xmlns:a16="http://schemas.microsoft.com/office/drawing/2014/main" id="{605123A2-0EE8-C248-8F59-66E5185454FB}"/>
              </a:ext>
            </a:extLst>
          </p:cNvPr>
          <p:cNvSpPr/>
          <p:nvPr/>
        </p:nvSpPr>
        <p:spPr>
          <a:xfrm>
            <a:off x="409575" y="250507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890" b="1">
                <a:solidFill>
                  <a:srgbClr val="092A63"/>
                </a:solidFill>
              </a:rPr>
              <a:t>1,840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2743093-1B86-394F-8D78-F2CF71486417}"/>
              </a:ext>
            </a:extLst>
          </p:cNvPr>
          <p:cNvSpPr txBox="1"/>
          <p:nvPr/>
        </p:nvSpPr>
        <p:spPr>
          <a:xfrm>
            <a:off x="914400" y="251460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Beneficiaries served</a:t>
            </a:r>
          </a:p>
        </p:txBody>
      </p:sp>
      <p:sp>
        <p:nvSpPr>
          <p:cNvPr id="103" name="mir_month_reach_workshops">
            <a:extLst>
              <a:ext uri="{FF2B5EF4-FFF2-40B4-BE49-F238E27FC236}">
                <a16:creationId xmlns:a16="http://schemas.microsoft.com/office/drawing/2014/main" id="{64BF01DF-3CB3-E54C-AFB8-06F7F65EEEC0}"/>
              </a:ext>
            </a:extLst>
          </p:cNvPr>
          <p:cNvSpPr/>
          <p:nvPr/>
        </p:nvSpPr>
        <p:spPr>
          <a:xfrm>
            <a:off x="409575" y="280035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C7A8B"/>
                </a:solidFill>
              </a:rPr>
              <a:t>18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945DAED-20C8-6647-ABE0-E8471F33B00D}"/>
              </a:ext>
            </a:extLst>
          </p:cNvPr>
          <p:cNvSpPr txBox="1"/>
          <p:nvPr/>
        </p:nvSpPr>
        <p:spPr>
          <a:xfrm>
            <a:off x="914400" y="280987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Workshops conducted</a:t>
            </a:r>
          </a:p>
        </p:txBody>
      </p:sp>
      <p:sp>
        <p:nvSpPr>
          <p:cNvPr id="106" name="mir_month_reach_retreats">
            <a:extLst>
              <a:ext uri="{FF2B5EF4-FFF2-40B4-BE49-F238E27FC236}">
                <a16:creationId xmlns:a16="http://schemas.microsoft.com/office/drawing/2014/main" id="{3B9AC33D-36F8-694D-925D-AFCB27F494B5}"/>
              </a:ext>
            </a:extLst>
          </p:cNvPr>
          <p:cNvSpPr/>
          <p:nvPr/>
        </p:nvSpPr>
        <p:spPr>
          <a:xfrm>
            <a:off x="409575" y="309562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986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C98600"/>
                </a:solidFill>
              </a:rPr>
              <a:t>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AE5011F-627C-A44B-81E5-9AC88A7E152A}"/>
              </a:ext>
            </a:extLst>
          </p:cNvPr>
          <p:cNvSpPr txBox="1"/>
          <p:nvPr/>
        </p:nvSpPr>
        <p:spPr>
          <a:xfrm>
            <a:off x="914400" y="310515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 conducted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1DD5DB9-5008-8F47-BB9F-748A9DCE1179}"/>
              </a:ext>
            </a:extLst>
          </p:cNvPr>
          <p:cNvSpPr/>
          <p:nvPr/>
        </p:nvSpPr>
        <p:spPr>
          <a:xfrm>
            <a:off x="3143250" y="1896369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6B1A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6B1A7A"/>
                </a:solidFill>
              </a:rPr>
              <a:t>M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192A748-05A1-1040-9904-B61EB1C1C13E}"/>
              </a:ext>
            </a:extLst>
          </p:cNvPr>
          <p:cNvSpPr txBox="1"/>
          <p:nvPr/>
        </p:nvSpPr>
        <p:spPr>
          <a:xfrm>
            <a:off x="3486150" y="1915419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Marriage enrichment</a:t>
            </a:r>
          </a:p>
        </p:txBody>
      </p:sp>
      <p:sp>
        <p:nvSpPr>
          <p:cNvPr id="111" name="mir_fytd_marriage">
            <a:extLst>
              <a:ext uri="{FF2B5EF4-FFF2-40B4-BE49-F238E27FC236}">
                <a16:creationId xmlns:a16="http://schemas.microsoft.com/office/drawing/2014/main" id="{B25163ED-993C-9949-A488-8703237543E3}"/>
              </a:ext>
            </a:extLst>
          </p:cNvPr>
          <p:cNvSpPr txBox="1"/>
          <p:nvPr/>
        </p:nvSpPr>
        <p:spPr>
          <a:xfrm>
            <a:off x="5086350" y="1905894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6B1A7A"/>
                </a:solidFill>
              </a:rPr>
              <a:t>707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91CAA7F-0FC2-434C-8A3B-012C741A416F}"/>
              </a:ext>
            </a:extLst>
          </p:cNvPr>
          <p:cNvSpPr/>
          <p:nvPr/>
        </p:nvSpPr>
        <p:spPr>
          <a:xfrm>
            <a:off x="3143250" y="2210694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2D7D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2D7D2F"/>
                </a:solidFill>
              </a:rPr>
              <a:t>P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15EE006-CE8D-4A47-80FF-93C98258E798}"/>
              </a:ext>
            </a:extLst>
          </p:cNvPr>
          <p:cNvSpPr txBox="1"/>
          <p:nvPr/>
        </p:nvSpPr>
        <p:spPr>
          <a:xfrm>
            <a:off x="3486150" y="2229744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Personal growth</a:t>
            </a:r>
          </a:p>
        </p:txBody>
      </p:sp>
      <p:sp>
        <p:nvSpPr>
          <p:cNvPr id="114" name="mir_fytd_personal_growth">
            <a:extLst>
              <a:ext uri="{FF2B5EF4-FFF2-40B4-BE49-F238E27FC236}">
                <a16:creationId xmlns:a16="http://schemas.microsoft.com/office/drawing/2014/main" id="{B3BCA619-049B-E24C-8738-46284CA34B1F}"/>
              </a:ext>
            </a:extLst>
          </p:cNvPr>
          <p:cNvSpPr txBox="1"/>
          <p:nvPr/>
        </p:nvSpPr>
        <p:spPr>
          <a:xfrm>
            <a:off x="5086350" y="2220219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2D7D2F"/>
                </a:solidFill>
              </a:rPr>
              <a:t>412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FF81B9A-5317-D846-90B1-27062241AE3B}"/>
              </a:ext>
            </a:extLst>
          </p:cNvPr>
          <p:cNvSpPr/>
          <p:nvPr/>
        </p:nvSpPr>
        <p:spPr>
          <a:xfrm>
            <a:off x="3143250" y="2525019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07C9628-A568-4647-ABBB-5E46D39415AA}"/>
              </a:ext>
            </a:extLst>
          </p:cNvPr>
          <p:cNvSpPr txBox="1"/>
          <p:nvPr/>
        </p:nvSpPr>
        <p:spPr>
          <a:xfrm>
            <a:off x="3486150" y="2544069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Suicide intervention</a:t>
            </a:r>
          </a:p>
        </p:txBody>
      </p:sp>
      <p:sp>
        <p:nvSpPr>
          <p:cNvPr id="117" name="mir_fytd_suicide">
            <a:extLst>
              <a:ext uri="{FF2B5EF4-FFF2-40B4-BE49-F238E27FC236}">
                <a16:creationId xmlns:a16="http://schemas.microsoft.com/office/drawing/2014/main" id="{DC411413-BED2-7A4B-ADAD-39391C3B0A73}"/>
              </a:ext>
            </a:extLst>
          </p:cNvPr>
          <p:cNvSpPr txBox="1"/>
          <p:nvPr/>
        </p:nvSpPr>
        <p:spPr>
          <a:xfrm>
            <a:off x="5086350" y="2534544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718</a:t>
            </a:r>
          </a:p>
        </p:txBody>
      </p:sp>
      <p:sp>
        <p:nvSpPr>
          <p:cNvPr id="193" name="mir_fytd_retreats_icon">
            <a:extLst>
              <a:ext uri="{FF2B5EF4-FFF2-40B4-BE49-F238E27FC236}">
                <a16:creationId xmlns:a16="http://schemas.microsoft.com/office/drawing/2014/main" id="{D672226F-3D49-4E07-BC0F-8FF85B9623C4}"/>
              </a:ext>
            </a:extLst>
          </p:cNvPr>
          <p:cNvSpPr/>
          <p:nvPr/>
        </p:nvSpPr>
        <p:spPr>
          <a:xfrm>
            <a:off x="3143250" y="2839344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R</a:t>
            </a:r>
          </a:p>
        </p:txBody>
      </p:sp>
      <p:sp>
        <p:nvSpPr>
          <p:cNvPr id="194" name="mir_fytd_retreats_label">
            <a:extLst>
              <a:ext uri="{FF2B5EF4-FFF2-40B4-BE49-F238E27FC236}">
                <a16:creationId xmlns:a16="http://schemas.microsoft.com/office/drawing/2014/main" id="{8D06DB87-E28B-4111-BA2E-1A8573F9D3A4}"/>
              </a:ext>
            </a:extLst>
          </p:cNvPr>
          <p:cNvSpPr txBox="1"/>
          <p:nvPr/>
        </p:nvSpPr>
        <p:spPr>
          <a:xfrm>
            <a:off x="3486150" y="2858394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Retreats</a:t>
            </a:r>
          </a:p>
        </p:txBody>
      </p:sp>
      <p:sp>
        <p:nvSpPr>
          <p:cNvPr id="195" name="mir_fytd_retreats">
            <a:extLst>
              <a:ext uri="{FF2B5EF4-FFF2-40B4-BE49-F238E27FC236}">
                <a16:creationId xmlns:a16="http://schemas.microsoft.com/office/drawing/2014/main" id="{060813E5-CB64-4BA4-AD93-901071B92149}"/>
              </a:ext>
            </a:extLst>
          </p:cNvPr>
          <p:cNvSpPr txBox="1"/>
          <p:nvPr/>
        </p:nvSpPr>
        <p:spPr>
          <a:xfrm>
            <a:off x="5086350" y="2848869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55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7D27ECC-1A15-FF47-B870-FC83060BFD74}"/>
              </a:ext>
            </a:extLst>
          </p:cNvPr>
          <p:cNvSpPr/>
          <p:nvPr/>
        </p:nvSpPr>
        <p:spPr>
          <a:xfrm>
            <a:off x="3143250" y="3191769"/>
            <a:ext cx="249555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5555C32-F69A-274F-B767-440C6312A869}"/>
              </a:ext>
            </a:extLst>
          </p:cNvPr>
          <p:cNvSpPr txBox="1"/>
          <p:nvPr/>
        </p:nvSpPr>
        <p:spPr>
          <a:xfrm>
            <a:off x="3143250" y="3282069"/>
            <a:ext cx="914400" cy="2530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61B44"/>
                </a:solidFill>
              </a:rPr>
              <a:t>FYTD TOTAL</a:t>
            </a:r>
          </a:p>
        </p:txBody>
      </p:sp>
      <p:sp>
        <p:nvSpPr>
          <p:cNvPr id="120" name="mir_fytd_total">
            <a:extLst>
              <a:ext uri="{FF2B5EF4-FFF2-40B4-BE49-F238E27FC236}">
                <a16:creationId xmlns:a16="http://schemas.microsoft.com/office/drawing/2014/main" id="{356351C4-DD2F-3E4C-88A7-2084B14CAEBC}"/>
              </a:ext>
            </a:extLst>
          </p:cNvPr>
          <p:cNvSpPr txBox="1"/>
          <p:nvPr/>
        </p:nvSpPr>
        <p:spPr>
          <a:xfrm>
            <a:off x="4933950" y="3246842"/>
            <a:ext cx="762000" cy="28469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300" b="1" dirty="0">
                <a:solidFill>
                  <a:srgbClr val="061B44"/>
                </a:solidFill>
              </a:rPr>
              <a:t>1,892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F5D96BB-868C-A64F-ADC4-336D22EBBF1D}"/>
              </a:ext>
            </a:extLst>
          </p:cNvPr>
          <p:cNvSpPr txBox="1"/>
          <p:nvPr/>
        </p:nvSpPr>
        <p:spPr>
          <a:xfrm>
            <a:off x="3143250" y="3453069"/>
            <a:ext cx="914400" cy="2530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61B44"/>
                </a:solidFill>
              </a:rPr>
              <a:t>COMMANDS</a:t>
            </a:r>
          </a:p>
        </p:txBody>
      </p:sp>
      <p:sp>
        <p:nvSpPr>
          <p:cNvPr id="122" name="mir_fytd_commands">
            <a:extLst>
              <a:ext uri="{FF2B5EF4-FFF2-40B4-BE49-F238E27FC236}">
                <a16:creationId xmlns:a16="http://schemas.microsoft.com/office/drawing/2014/main" id="{B18AA30D-026A-D949-A6D0-03598F8CC7AA}"/>
              </a:ext>
            </a:extLst>
          </p:cNvPr>
          <p:cNvSpPr txBox="1"/>
          <p:nvPr/>
        </p:nvSpPr>
        <p:spPr>
          <a:xfrm>
            <a:off x="5153025" y="3420369"/>
            <a:ext cx="495300" cy="28469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300" b="1">
                <a:solidFill>
                  <a:srgbClr val="061B44"/>
                </a:solidFill>
              </a:rPr>
              <a:t>24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A893E32-1502-5C42-B638-03C1F7E8566A}"/>
              </a:ext>
            </a:extLst>
          </p:cNvPr>
          <p:cNvSpPr/>
          <p:nvPr/>
        </p:nvSpPr>
        <p:spPr>
          <a:xfrm>
            <a:off x="371475" y="3724275"/>
            <a:ext cx="5467350" cy="238125"/>
          </a:xfrm>
          <a:prstGeom prst="rect">
            <a:avLst/>
          </a:prstGeom>
          <a:solidFill>
            <a:srgbClr val="EAF0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8E71A37-0074-1C48-977A-D72A3FD48656}"/>
              </a:ext>
            </a:extLst>
          </p:cNvPr>
          <p:cNvSpPr txBox="1"/>
          <p:nvPr/>
        </p:nvSpPr>
        <p:spPr>
          <a:xfrm>
            <a:off x="485775" y="3762375"/>
            <a:ext cx="5238750" cy="2077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50" b="1" i="1" dirty="0">
                <a:solidFill>
                  <a:srgbClr val="061B44"/>
                </a:solidFill>
              </a:rPr>
              <a:t>Notes: 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2809C68-E8AD-3547-B20C-31E9BA5226AB}"/>
              </a:ext>
            </a:extLst>
          </p:cNvPr>
          <p:cNvSpPr txBox="1"/>
          <p:nvPr/>
        </p:nvSpPr>
        <p:spPr>
          <a:xfrm>
            <a:off x="6477000" y="1911350"/>
            <a:ext cx="19685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BILLET / PERSONNEL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929AC4C-7F60-3846-AE2C-4E5E69F56387}"/>
              </a:ext>
            </a:extLst>
          </p:cNvPr>
          <p:cNvSpPr txBox="1"/>
          <p:nvPr/>
        </p:nvSpPr>
        <p:spPr>
          <a:xfrm>
            <a:off x="8521700" y="1911350"/>
            <a:ext cx="19304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STATUS / NEXT ACTION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4CC9749-1EB6-084B-9C27-B3076E5E02EE}"/>
              </a:ext>
            </a:extLst>
          </p:cNvPr>
          <p:cNvSpPr txBox="1"/>
          <p:nvPr/>
        </p:nvSpPr>
        <p:spPr>
          <a:xfrm>
            <a:off x="10553700" y="1911350"/>
            <a:ext cx="11811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PRD / EAOS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F0E50C8-3A87-F445-AAA1-377B598E22D5}"/>
              </a:ext>
            </a:extLst>
          </p:cNvPr>
          <p:cNvSpPr/>
          <p:nvPr/>
        </p:nvSpPr>
        <p:spPr>
          <a:xfrm>
            <a:off x="6388100" y="2101850"/>
            <a:ext cx="543560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9968400-3299-0B48-9486-196B53FB8259}"/>
              </a:ext>
            </a:extLst>
          </p:cNvPr>
          <p:cNvSpPr/>
          <p:nvPr/>
        </p:nvSpPr>
        <p:spPr>
          <a:xfrm>
            <a:off x="6388100" y="22098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83679747-A63D-B949-87F6-81C6428651AF}"/>
              </a:ext>
            </a:extLst>
          </p:cNvPr>
          <p:cNvSpPr/>
          <p:nvPr/>
        </p:nvSpPr>
        <p:spPr>
          <a:xfrm>
            <a:off x="6578600" y="23241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9" name="mir_manpower_row1_name">
            <a:extLst>
              <a:ext uri="{FF2B5EF4-FFF2-40B4-BE49-F238E27FC236}">
                <a16:creationId xmlns:a16="http://schemas.microsoft.com/office/drawing/2014/main" id="{D8F5C21D-239E-4C45-AB7C-3E4C03C4B7AE}"/>
              </a:ext>
            </a:extLst>
          </p:cNvPr>
          <p:cNvSpPr txBox="1"/>
          <p:nvPr/>
        </p:nvSpPr>
        <p:spPr>
          <a:xfrm>
            <a:off x="6794500" y="22733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[Name]</a:t>
            </a:r>
          </a:p>
        </p:txBody>
      </p:sp>
      <p:sp>
        <p:nvSpPr>
          <p:cNvPr id="160" name="mir_manpower_row1_title">
            <a:extLst>
              <a:ext uri="{FF2B5EF4-FFF2-40B4-BE49-F238E27FC236}">
                <a16:creationId xmlns:a16="http://schemas.microsoft.com/office/drawing/2014/main" id="{6B16604F-4879-B441-9EED-F7625FD27CC0}"/>
              </a:ext>
            </a:extLst>
          </p:cNvPr>
          <p:cNvSpPr txBox="1"/>
          <p:nvPr/>
        </p:nvSpPr>
        <p:spPr>
          <a:xfrm>
            <a:off x="6794500" y="24028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>[Title]</a:t>
            </a:r>
          </a:p>
        </p:txBody>
      </p:sp>
      <p:sp>
        <p:nvSpPr>
          <p:cNvPr id="161" name="mir_manpower_row1_role">
            <a:extLst>
              <a:ext uri="{FF2B5EF4-FFF2-40B4-BE49-F238E27FC236}">
                <a16:creationId xmlns:a16="http://schemas.microsoft.com/office/drawing/2014/main" id="{5C2C2286-0A39-3847-AB7B-06958505F5BE}"/>
              </a:ext>
            </a:extLst>
          </p:cNvPr>
          <p:cNvSpPr txBox="1"/>
          <p:nvPr/>
        </p:nvSpPr>
        <p:spPr>
          <a:xfrm>
            <a:off x="8521700" y="22885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[Role]</a:t>
            </a:r>
          </a:p>
        </p:txBody>
      </p:sp>
      <p:sp>
        <p:nvSpPr>
          <p:cNvPr id="162" name="mir_manpower_row1_date">
            <a:extLst>
              <a:ext uri="{FF2B5EF4-FFF2-40B4-BE49-F238E27FC236}">
                <a16:creationId xmlns:a16="http://schemas.microsoft.com/office/drawing/2014/main" id="{047BBDEC-6A22-274B-8B1A-BF0555E26356}"/>
              </a:ext>
            </a:extLst>
          </p:cNvPr>
          <p:cNvSpPr txBox="1"/>
          <p:nvPr/>
        </p:nvSpPr>
        <p:spPr>
          <a:xfrm>
            <a:off x="10553700" y="22885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[Date]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3385C8F-34DB-BA44-AF27-AEEE84A79250}"/>
              </a:ext>
            </a:extLst>
          </p:cNvPr>
          <p:cNvSpPr/>
          <p:nvPr/>
        </p:nvSpPr>
        <p:spPr>
          <a:xfrm>
            <a:off x="6388100" y="25527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20DF7BA-028B-4C4D-8FBA-C41905191FBC}"/>
              </a:ext>
            </a:extLst>
          </p:cNvPr>
          <p:cNvSpPr/>
          <p:nvPr/>
        </p:nvSpPr>
        <p:spPr>
          <a:xfrm>
            <a:off x="6578600" y="26670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5" name="mir_manpower_row2_name">
            <a:extLst>
              <a:ext uri="{FF2B5EF4-FFF2-40B4-BE49-F238E27FC236}">
                <a16:creationId xmlns:a16="http://schemas.microsoft.com/office/drawing/2014/main" id="{EDE813E6-79EC-B24D-91FB-3E8DA8C6CC5E}"/>
              </a:ext>
            </a:extLst>
          </p:cNvPr>
          <p:cNvSpPr txBox="1"/>
          <p:nvPr/>
        </p:nvSpPr>
        <p:spPr>
          <a:xfrm>
            <a:off x="6794500" y="2616200"/>
            <a:ext cx="856325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[Name]</a:t>
            </a:r>
          </a:p>
        </p:txBody>
      </p:sp>
      <p:sp>
        <p:nvSpPr>
          <p:cNvPr id="166" name="mir_manpower_row2_title">
            <a:extLst>
              <a:ext uri="{FF2B5EF4-FFF2-40B4-BE49-F238E27FC236}">
                <a16:creationId xmlns:a16="http://schemas.microsoft.com/office/drawing/2014/main" id="{1080A8E8-9115-554D-8FA7-F844966C4B74}"/>
              </a:ext>
            </a:extLst>
          </p:cNvPr>
          <p:cNvSpPr txBox="1"/>
          <p:nvPr/>
        </p:nvSpPr>
        <p:spPr>
          <a:xfrm>
            <a:off x="6794500" y="27457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>[Title]</a:t>
            </a:r>
          </a:p>
        </p:txBody>
      </p:sp>
      <p:sp>
        <p:nvSpPr>
          <p:cNvPr id="167" name="mir_manpower_row2_role">
            <a:extLst>
              <a:ext uri="{FF2B5EF4-FFF2-40B4-BE49-F238E27FC236}">
                <a16:creationId xmlns:a16="http://schemas.microsoft.com/office/drawing/2014/main" id="{17930A0E-231B-CF49-9C22-A7AC6A2620CE}"/>
              </a:ext>
            </a:extLst>
          </p:cNvPr>
          <p:cNvSpPr txBox="1"/>
          <p:nvPr/>
        </p:nvSpPr>
        <p:spPr>
          <a:xfrm>
            <a:off x="8521700" y="26314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[Role]</a:t>
            </a:r>
          </a:p>
        </p:txBody>
      </p:sp>
      <p:sp>
        <p:nvSpPr>
          <p:cNvPr id="168" name="mir_manpower_row2_date">
            <a:extLst>
              <a:ext uri="{FF2B5EF4-FFF2-40B4-BE49-F238E27FC236}">
                <a16:creationId xmlns:a16="http://schemas.microsoft.com/office/drawing/2014/main" id="{C177A58F-E68A-234B-AFB6-6522728E5E99}"/>
              </a:ext>
            </a:extLst>
          </p:cNvPr>
          <p:cNvSpPr txBox="1"/>
          <p:nvPr/>
        </p:nvSpPr>
        <p:spPr>
          <a:xfrm>
            <a:off x="10553700" y="26227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[Date]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5A8EBD7-68AD-7B44-A153-99880E671991}"/>
              </a:ext>
            </a:extLst>
          </p:cNvPr>
          <p:cNvSpPr/>
          <p:nvPr/>
        </p:nvSpPr>
        <p:spPr>
          <a:xfrm>
            <a:off x="6388100" y="28956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B0B738F-61C4-9E48-9923-7738479AA2A5}"/>
              </a:ext>
            </a:extLst>
          </p:cNvPr>
          <p:cNvSpPr/>
          <p:nvPr/>
        </p:nvSpPr>
        <p:spPr>
          <a:xfrm>
            <a:off x="6578600" y="30099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1" name="mir_manpower_row3_name">
            <a:extLst>
              <a:ext uri="{FF2B5EF4-FFF2-40B4-BE49-F238E27FC236}">
                <a16:creationId xmlns:a16="http://schemas.microsoft.com/office/drawing/2014/main" id="{9768FAF5-9AFE-3341-A7E8-BBFF0F7B8772}"/>
              </a:ext>
            </a:extLst>
          </p:cNvPr>
          <p:cNvSpPr txBox="1"/>
          <p:nvPr/>
        </p:nvSpPr>
        <p:spPr>
          <a:xfrm>
            <a:off x="6794500" y="2959100"/>
            <a:ext cx="66556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[Name]</a:t>
            </a:r>
          </a:p>
        </p:txBody>
      </p:sp>
      <p:sp>
        <p:nvSpPr>
          <p:cNvPr id="172" name="mir_manpower_row3_title">
            <a:extLst>
              <a:ext uri="{FF2B5EF4-FFF2-40B4-BE49-F238E27FC236}">
                <a16:creationId xmlns:a16="http://schemas.microsoft.com/office/drawing/2014/main" id="{9FD3B12B-83F3-8F4A-9F2B-DD09E627DC7E}"/>
              </a:ext>
            </a:extLst>
          </p:cNvPr>
          <p:cNvSpPr txBox="1"/>
          <p:nvPr/>
        </p:nvSpPr>
        <p:spPr>
          <a:xfrm>
            <a:off x="6794500" y="30886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 dirty="0">
                <a:solidFill>
                  <a:srgbClr val="5B6778"/>
                </a:solidFill>
              </a:rPr>
              <a:t>[Title]</a:t>
            </a:r>
          </a:p>
        </p:txBody>
      </p:sp>
      <p:sp>
        <p:nvSpPr>
          <p:cNvPr id="173" name="mir_manpower_row3_role">
            <a:extLst>
              <a:ext uri="{FF2B5EF4-FFF2-40B4-BE49-F238E27FC236}">
                <a16:creationId xmlns:a16="http://schemas.microsoft.com/office/drawing/2014/main" id="{EF65367B-19BD-9342-BBFC-6AD2C0D334AD}"/>
              </a:ext>
            </a:extLst>
          </p:cNvPr>
          <p:cNvSpPr txBox="1"/>
          <p:nvPr/>
        </p:nvSpPr>
        <p:spPr>
          <a:xfrm>
            <a:off x="8521700" y="29743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[Role]</a:t>
            </a:r>
          </a:p>
        </p:txBody>
      </p:sp>
      <p:sp>
        <p:nvSpPr>
          <p:cNvPr id="174" name="mir_manpower_row3_date">
            <a:extLst>
              <a:ext uri="{FF2B5EF4-FFF2-40B4-BE49-F238E27FC236}">
                <a16:creationId xmlns:a16="http://schemas.microsoft.com/office/drawing/2014/main" id="{0595AB74-19E5-7F4E-AD92-B392441C9643}"/>
              </a:ext>
            </a:extLst>
          </p:cNvPr>
          <p:cNvSpPr txBox="1"/>
          <p:nvPr/>
        </p:nvSpPr>
        <p:spPr>
          <a:xfrm>
            <a:off x="10553700" y="29743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[Date]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2CB56B9-CA09-E14A-8AB0-9EF57B0485F9}"/>
              </a:ext>
            </a:extLst>
          </p:cNvPr>
          <p:cNvSpPr/>
          <p:nvPr/>
        </p:nvSpPr>
        <p:spPr>
          <a:xfrm>
            <a:off x="6388100" y="32385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A857449-CF58-2E4A-9F5F-233919B6D80E}"/>
              </a:ext>
            </a:extLst>
          </p:cNvPr>
          <p:cNvSpPr/>
          <p:nvPr/>
        </p:nvSpPr>
        <p:spPr>
          <a:xfrm>
            <a:off x="6578600" y="33528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7" name="mir_manpower_row4_name">
            <a:extLst>
              <a:ext uri="{FF2B5EF4-FFF2-40B4-BE49-F238E27FC236}">
                <a16:creationId xmlns:a16="http://schemas.microsoft.com/office/drawing/2014/main" id="{F9374B8B-CC07-2947-8537-D38FC53BD7D8}"/>
              </a:ext>
            </a:extLst>
          </p:cNvPr>
          <p:cNvSpPr txBox="1"/>
          <p:nvPr/>
        </p:nvSpPr>
        <p:spPr>
          <a:xfrm>
            <a:off x="6794500" y="3302000"/>
            <a:ext cx="78258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[Name]</a:t>
            </a:r>
          </a:p>
        </p:txBody>
      </p:sp>
      <p:sp>
        <p:nvSpPr>
          <p:cNvPr id="178" name="mir_manpower_row4_title">
            <a:extLst>
              <a:ext uri="{FF2B5EF4-FFF2-40B4-BE49-F238E27FC236}">
                <a16:creationId xmlns:a16="http://schemas.microsoft.com/office/drawing/2014/main" id="{ACC20B30-276B-784F-8476-0426B8BF2AA6}"/>
              </a:ext>
            </a:extLst>
          </p:cNvPr>
          <p:cNvSpPr txBox="1"/>
          <p:nvPr/>
        </p:nvSpPr>
        <p:spPr>
          <a:xfrm>
            <a:off x="6794500" y="34315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>[Title]</a:t>
            </a:r>
          </a:p>
        </p:txBody>
      </p:sp>
      <p:sp>
        <p:nvSpPr>
          <p:cNvPr id="179" name="mir_manpower_row4_role">
            <a:extLst>
              <a:ext uri="{FF2B5EF4-FFF2-40B4-BE49-F238E27FC236}">
                <a16:creationId xmlns:a16="http://schemas.microsoft.com/office/drawing/2014/main" id="{01765735-E642-5349-B1AD-052ED15CDEA7}"/>
              </a:ext>
            </a:extLst>
          </p:cNvPr>
          <p:cNvSpPr txBox="1"/>
          <p:nvPr/>
        </p:nvSpPr>
        <p:spPr>
          <a:xfrm>
            <a:off x="8521700" y="33172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[Role]</a:t>
            </a:r>
          </a:p>
        </p:txBody>
      </p:sp>
      <p:sp>
        <p:nvSpPr>
          <p:cNvPr id="180" name="mir_manpower_row4_date">
            <a:extLst>
              <a:ext uri="{FF2B5EF4-FFF2-40B4-BE49-F238E27FC236}">
                <a16:creationId xmlns:a16="http://schemas.microsoft.com/office/drawing/2014/main" id="{1031A3D8-F625-BE4F-BE56-99184A37AD9D}"/>
              </a:ext>
            </a:extLst>
          </p:cNvPr>
          <p:cNvSpPr txBox="1"/>
          <p:nvPr/>
        </p:nvSpPr>
        <p:spPr>
          <a:xfrm>
            <a:off x="10553700" y="33085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[Date]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1B16C1-DB8A-4A43-AEB8-932F2F220F45}"/>
              </a:ext>
            </a:extLst>
          </p:cNvPr>
          <p:cNvSpPr/>
          <p:nvPr/>
        </p:nvSpPr>
        <p:spPr>
          <a:xfrm>
            <a:off x="6388100" y="35814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B04A621-CE48-8C49-9B5E-7E151EB2ED94}"/>
              </a:ext>
            </a:extLst>
          </p:cNvPr>
          <p:cNvSpPr/>
          <p:nvPr/>
        </p:nvSpPr>
        <p:spPr>
          <a:xfrm>
            <a:off x="6578600" y="36957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3" name="mir_manpower_row5_name">
            <a:extLst>
              <a:ext uri="{FF2B5EF4-FFF2-40B4-BE49-F238E27FC236}">
                <a16:creationId xmlns:a16="http://schemas.microsoft.com/office/drawing/2014/main" id="{414F8F15-37ED-E547-8C87-652848BCF22D}"/>
              </a:ext>
            </a:extLst>
          </p:cNvPr>
          <p:cNvSpPr txBox="1"/>
          <p:nvPr/>
        </p:nvSpPr>
        <p:spPr>
          <a:xfrm>
            <a:off x="6794500" y="36449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[Name]</a:t>
            </a:r>
          </a:p>
        </p:txBody>
      </p:sp>
      <p:sp>
        <p:nvSpPr>
          <p:cNvPr id="184" name="mir_manpower_row5_title">
            <a:extLst>
              <a:ext uri="{FF2B5EF4-FFF2-40B4-BE49-F238E27FC236}">
                <a16:creationId xmlns:a16="http://schemas.microsoft.com/office/drawing/2014/main" id="{4B86BD3A-9825-3C42-B09B-5E213AD1011D}"/>
              </a:ext>
            </a:extLst>
          </p:cNvPr>
          <p:cNvSpPr txBox="1"/>
          <p:nvPr/>
        </p:nvSpPr>
        <p:spPr>
          <a:xfrm>
            <a:off x="6794500" y="37744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>[Title]</a:t>
            </a:r>
          </a:p>
        </p:txBody>
      </p:sp>
      <p:sp>
        <p:nvSpPr>
          <p:cNvPr id="185" name="mir_manpower_row5_role">
            <a:extLst>
              <a:ext uri="{FF2B5EF4-FFF2-40B4-BE49-F238E27FC236}">
                <a16:creationId xmlns:a16="http://schemas.microsoft.com/office/drawing/2014/main" id="{413695CF-9CB4-9342-B65E-B26F4C5C0447}"/>
              </a:ext>
            </a:extLst>
          </p:cNvPr>
          <p:cNvSpPr txBox="1"/>
          <p:nvPr/>
        </p:nvSpPr>
        <p:spPr>
          <a:xfrm>
            <a:off x="8521700" y="36601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[Role]</a:t>
            </a:r>
          </a:p>
        </p:txBody>
      </p:sp>
      <p:sp>
        <p:nvSpPr>
          <p:cNvPr id="186" name="mir_manpower_row5_date">
            <a:extLst>
              <a:ext uri="{FF2B5EF4-FFF2-40B4-BE49-F238E27FC236}">
                <a16:creationId xmlns:a16="http://schemas.microsoft.com/office/drawing/2014/main" id="{4FB9FB10-0198-2049-BE21-4BD34B86F14E}"/>
              </a:ext>
            </a:extLst>
          </p:cNvPr>
          <p:cNvSpPr txBox="1"/>
          <p:nvPr/>
        </p:nvSpPr>
        <p:spPr>
          <a:xfrm>
            <a:off x="10553700" y="3651418"/>
            <a:ext cx="48923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[Date]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9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Arial"/>
                <a:cs typeface="Arial"/>
              </a:rPr>
              <a:t>NOTES PAGE: Add amplifying context, decisions, risks, and follow-ups for each report section below.</a:t>
            </a:r>
            <a:endParaRPr lang="en-US" sz="115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1. REACH + MISSION SUPPORT — NOTES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2. MANPOWER / MANNING — NOTES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3. READINESS OUTCOMES — NOTES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4. COMMAND HIGHLIGHTS — NOTES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sz="650" i="1">
                <a:solidFill>
                  <a:srgbClr val="0A2A63"/>
                </a:solidFill>
                <a:latin typeface="Arial"/>
                <a:cs typeface="Arial"/>
              </a:rPr>
              <a:t>Notes / amplification companion page</a:t>
            </a:r>
          </a:p>
        </p:txBody>
      </p:sp>
      <p:sp>
        <p:nvSpPr>
          <p:cNvPr id="7" name="mir_notes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en-US" sz="1100" b="1">
                <a:solidFill>
                  <a:srgbClr val="0A2A63"/>
                </a:solidFill>
                <a:latin typeface="Arial"/>
                <a:cs typeface="Arial"/>
              </a:rPr>
              <a:t>JUNE 2026 — NOTES / AMPLIFICATION</a:t>
            </a:r>
            <a:endParaRPr lang="en-US" sz="1100" b="1" dirty="0">
              <a:solidFill>
                <a:srgbClr val="0A2A63"/>
              </a:solidFill>
              <a:latin typeface="Arial"/>
              <a:cs typeface="Arial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8D8585-5A7F-1341-84C7-26F7C831F404}"/>
              </a:ext>
            </a:extLst>
          </p:cNvPr>
          <p:cNvSpPr txBox="1"/>
          <p:nvPr/>
        </p:nvSpPr>
        <p:spPr>
          <a:xfrm>
            <a:off x="431800" y="1955800"/>
            <a:ext cx="5181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Reach / mission support notes</a:t>
            </a:r>
          </a:p>
        </p:txBody>
      </p:sp>
      <p:sp>
        <p:nvSpPr>
          <p:cNvPr id="5" name="mir_notes_reach">
            <a:extLst>
              <a:ext uri="{FF2B5EF4-FFF2-40B4-BE49-F238E27FC236}">
                <a16:creationId xmlns:a16="http://schemas.microsoft.com/office/drawing/2014/main" id="{87B5FB4A-FD33-8A4C-9A6E-AB6165847B01}"/>
              </a:ext>
            </a:extLst>
          </p:cNvPr>
          <p:cNvSpPr txBox="1"/>
          <p:nvPr/>
        </p:nvSpPr>
        <p:spPr>
          <a:xfrm>
            <a:off x="431800" y="2247900"/>
            <a:ext cx="5181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June test.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15AAB1-3BBE-0F47-AD89-29262140D5F6}"/>
              </a:ext>
            </a:extLst>
          </p:cNvPr>
          <p:cNvSpPr txBox="1"/>
          <p:nvPr/>
        </p:nvSpPr>
        <p:spPr>
          <a:xfrm>
            <a:off x="6388100" y="1955800"/>
            <a:ext cx="528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Manpower / manning notes</a:t>
            </a:r>
          </a:p>
        </p:txBody>
      </p:sp>
      <p:sp>
        <p:nvSpPr>
          <p:cNvPr id="27" name="mir_notes_manpower">
            <a:extLst>
              <a:ext uri="{FF2B5EF4-FFF2-40B4-BE49-F238E27FC236}">
                <a16:creationId xmlns:a16="http://schemas.microsoft.com/office/drawing/2014/main" id="{5ED396B6-14CC-154F-A03B-7F8560D1D11E}"/>
              </a:ext>
            </a:extLst>
          </p:cNvPr>
          <p:cNvSpPr txBox="1"/>
          <p:nvPr/>
        </p:nvSpPr>
        <p:spPr>
          <a:xfrm>
            <a:off x="6388100" y="2247900"/>
            <a:ext cx="5283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manpower and manning notes for this reporting period.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18BF36-662F-8448-AC30-7D14965D3FB3}"/>
              </a:ext>
            </a:extLst>
          </p:cNvPr>
          <p:cNvSpPr/>
          <p:nvPr/>
        </p:nvSpPr>
        <p:spPr>
          <a:xfrm>
            <a:off x="6388100" y="29972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C52D83-9B96-D340-A095-9283E5BE7589}"/>
              </a:ext>
            </a:extLst>
          </p:cNvPr>
          <p:cNvSpPr/>
          <p:nvPr/>
        </p:nvSpPr>
        <p:spPr>
          <a:xfrm>
            <a:off x="6388100" y="33528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4A612A-25FE-BC41-AF33-412B08014080}"/>
              </a:ext>
            </a:extLst>
          </p:cNvPr>
          <p:cNvSpPr/>
          <p:nvPr/>
        </p:nvSpPr>
        <p:spPr>
          <a:xfrm>
            <a:off x="6388100" y="37084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CCB280-D0B8-C447-93CD-F1669488EF8B}"/>
              </a:ext>
            </a:extLst>
          </p:cNvPr>
          <p:cNvSpPr/>
          <p:nvPr/>
        </p:nvSpPr>
        <p:spPr>
          <a:xfrm>
            <a:off x="6388100" y="40640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9A08CF-F5D4-A440-8C38-C192A3EB2E73}"/>
              </a:ext>
            </a:extLst>
          </p:cNvPr>
          <p:cNvSpPr txBox="1"/>
          <p:nvPr/>
        </p:nvSpPr>
        <p:spPr>
          <a:xfrm>
            <a:off x="482600" y="4521200"/>
            <a:ext cx="520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Readiness outcomes notes</a:t>
            </a:r>
          </a:p>
        </p:txBody>
      </p:sp>
      <p:sp>
        <p:nvSpPr>
          <p:cNvPr id="33" name="mir_notes_readiness">
            <a:extLst>
              <a:ext uri="{FF2B5EF4-FFF2-40B4-BE49-F238E27FC236}">
                <a16:creationId xmlns:a16="http://schemas.microsoft.com/office/drawing/2014/main" id="{DF549476-EB29-F94C-8A7B-AE15D9329C94}"/>
              </a:ext>
            </a:extLst>
          </p:cNvPr>
          <p:cNvSpPr txBox="1"/>
          <p:nvPr/>
        </p:nvSpPr>
        <p:spPr>
          <a:xfrm>
            <a:off x="482600" y="4800600"/>
            <a:ext cx="5207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readiness outcomes notes for this reporting period.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9826D6-7183-AD42-BBBF-46D93741AE6B}"/>
              </a:ext>
            </a:extLst>
          </p:cNvPr>
          <p:cNvSpPr/>
          <p:nvPr/>
        </p:nvSpPr>
        <p:spPr>
          <a:xfrm>
            <a:off x="482600" y="54356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5507C1-D212-F940-924D-DA7979FC1CA4}"/>
              </a:ext>
            </a:extLst>
          </p:cNvPr>
          <p:cNvSpPr/>
          <p:nvPr/>
        </p:nvSpPr>
        <p:spPr>
          <a:xfrm>
            <a:off x="482600" y="57785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674F86-CCD7-6740-9EDD-A4C815D353FF}"/>
              </a:ext>
            </a:extLst>
          </p:cNvPr>
          <p:cNvSpPr/>
          <p:nvPr/>
        </p:nvSpPr>
        <p:spPr>
          <a:xfrm>
            <a:off x="482600" y="61214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6F7389-6FC2-2845-83FC-DC3BE766F6E4}"/>
              </a:ext>
            </a:extLst>
          </p:cNvPr>
          <p:cNvSpPr/>
          <p:nvPr/>
        </p:nvSpPr>
        <p:spPr>
          <a:xfrm>
            <a:off x="482600" y="64643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91E711-B77E-D14C-9CFE-46901084871B}"/>
              </a:ext>
            </a:extLst>
          </p:cNvPr>
          <p:cNvSpPr txBox="1"/>
          <p:nvPr/>
        </p:nvSpPr>
        <p:spPr>
          <a:xfrm>
            <a:off x="6388100" y="4521200"/>
            <a:ext cx="525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Command highlights notes</a:t>
            </a:r>
          </a:p>
        </p:txBody>
      </p:sp>
      <p:sp>
        <p:nvSpPr>
          <p:cNvPr id="39" name="mir_notes_command_highlights">
            <a:extLst>
              <a:ext uri="{FF2B5EF4-FFF2-40B4-BE49-F238E27FC236}">
                <a16:creationId xmlns:a16="http://schemas.microsoft.com/office/drawing/2014/main" id="{3F818B15-7829-1B45-948E-B40133F07C10}"/>
              </a:ext>
            </a:extLst>
          </p:cNvPr>
          <p:cNvSpPr txBox="1"/>
          <p:nvPr/>
        </p:nvSpPr>
        <p:spPr>
          <a:xfrm>
            <a:off x="6388100" y="4800600"/>
            <a:ext cx="5257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command highlights notes for this reporting period.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F40701-6EAA-A746-9BF4-8262BA433A2E}"/>
              </a:ext>
            </a:extLst>
          </p:cNvPr>
          <p:cNvSpPr/>
          <p:nvPr/>
        </p:nvSpPr>
        <p:spPr>
          <a:xfrm>
            <a:off x="6388100" y="54356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1983D-1A7D-E844-95D9-B1E407C3EC9E}"/>
              </a:ext>
            </a:extLst>
          </p:cNvPr>
          <p:cNvSpPr/>
          <p:nvPr/>
        </p:nvSpPr>
        <p:spPr>
          <a:xfrm>
            <a:off x="6388100" y="57785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EECD0E-F233-6946-BB64-AA03E8679939}"/>
              </a:ext>
            </a:extLst>
          </p:cNvPr>
          <p:cNvSpPr/>
          <p:nvPr/>
        </p:nvSpPr>
        <p:spPr>
          <a:xfrm>
            <a:off x="6388100" y="61214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7A4A4F-C02A-704D-8B8C-5A94C8298689}"/>
              </a:ext>
            </a:extLst>
          </p:cNvPr>
          <p:cNvSpPr/>
          <p:nvPr/>
        </p:nvSpPr>
        <p:spPr>
          <a:xfrm>
            <a:off x="6388100" y="64643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70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FCA9FB-24BD-D049-8F37-0D47AD932553}">
  <we:reference id="wa200010215" version="2.0.0.0" store="en-US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420</Words>
  <Application>Microsoft Macintosh PowerPoint</Application>
  <PresentationFormat>Widescreen</PresentationFormat>
  <Paragraphs>94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Brantley</dc:creator>
  <cp:lastModifiedBy>James Brantley</cp:lastModifiedBy>
  <cp:revision>3</cp:revision>
  <dcterms:created xsi:type="dcterms:W3CDTF">2026-06-20T04:58:58Z</dcterms:created>
  <dcterms:modified xsi:type="dcterms:W3CDTF">2026-06-23T19:17:45Z</dcterms:modified>
</cp:coreProperties>
</file>